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68" r:id="rId4"/>
    <p:sldId id="257" r:id="rId5"/>
    <p:sldId id="259" r:id="rId6"/>
    <p:sldId id="260" r:id="rId7"/>
    <p:sldId id="261" r:id="rId8"/>
    <p:sldId id="269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9474"/>
    <a:srgbClr val="F5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2" autoAdjust="0"/>
    <p:restoredTop sz="95984" autoAdjust="0"/>
  </p:normalViewPr>
  <p:slideViewPr>
    <p:cSldViewPr snapToGrid="0" snapToObjects="1">
      <p:cViewPr varScale="1">
        <p:scale>
          <a:sx n="59" d="100"/>
          <a:sy n="59" d="100"/>
        </p:scale>
        <p:origin x="6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182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962A0-C4AF-2F3C-E8BE-1557FC61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A822E-75F7-9748-EF8E-A5F8C61D2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0BB83-98A6-0C4B-2AFC-F10698F41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E6973-B887-8694-72C6-7C5420A86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86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C9813-2A2E-7E9F-AA61-A2008AC4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14C3F-D9B9-8B63-C002-1E39718EA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9C123F-BAD0-2021-157C-894EA9C8C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F002E-E9E6-2195-2FF2-525511AF60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58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4887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th6449-ops/team7-stress-dashboard/blob/main/docs/db/DB_%ED%85%8C%EC%9D%B4%EB%B8%94_%EB%AC%B8%EC%84%9C.m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th6449-ops/team7-stress-dashboard/blob/main/docs/api/API_%EA%B7%9C%EA%B2%A9_%EC%A0%95%EC%9D%98%EC%84%9C.m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eam7-stress-dashboard-1.onrender.com/docs" TargetMode="External"/><Relationship Id="rId4" Type="http://schemas.openxmlformats.org/officeDocument/2006/relationships/hyperlink" Target="https://team7-stress-dashboard.onrender.com/doc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th6449-ops/team7-stress-dashboard" TargetMode="External"/><Relationship Id="rId7" Type="http://schemas.openxmlformats.org/officeDocument/2006/relationships/hyperlink" Target="https://github.com/kth6449-ops/team7-stress-dashboard/blob/main/docs/api/API_%EA%B7%9C%EA%B2%A9_%EC%A0%95%EC%9D%98%EC%84%9C.m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kth6449-ops/team7-stress-dashboard/blob/main/docs/db/DB_%ED%85%8C%EC%9D%B4%EB%B8%94_%EB%AC%B8%EC%84%9C.md" TargetMode="External"/><Relationship Id="rId5" Type="http://schemas.openxmlformats.org/officeDocument/2006/relationships/hyperlink" Target="https://team7-stress-dashboard.onrender.com/docs" TargetMode="External"/><Relationship Id="rId4" Type="http://schemas.openxmlformats.org/officeDocument/2006/relationships/hyperlink" Target="https://team7-stress-dashboard-1.onrender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42F"/>
          </a:solidFill>
          <a:ln w="10160">
            <a:solidFill>
              <a:srgbClr val="0924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0B08A"/>
          </a:solidFill>
          <a:ln w="10160">
            <a:solidFill>
              <a:srgbClr val="20B0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576072"/>
            <a:ext cx="5715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60" dirty="0">
                <a:solidFill>
                  <a:srgbClr val="CCEBD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KAIST  /  CLOUD COMPUTING BAF.60081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060704"/>
            <a:ext cx="2377440" cy="301752"/>
          </a:xfrm>
          <a:prstGeom prst="roundRect">
            <a:avLst>
              <a:gd name="adj" fmla="val 36364"/>
            </a:avLst>
          </a:prstGeom>
          <a:solidFill>
            <a:srgbClr val="2B5860"/>
          </a:solidFill>
          <a:ln w="10160">
            <a:solidFill>
              <a:srgbClr val="2B58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2376" y="1060704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FCF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FINAL PROJECT · TEAM 7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67512" y="1572768"/>
            <a:ext cx="598932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금융시장 스트레스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모니터링 대시보드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94944" y="3410712"/>
            <a:ext cx="667512" cy="50292"/>
          </a:xfrm>
          <a:prstGeom prst="rect">
            <a:avLst/>
          </a:prstGeom>
          <a:solidFill>
            <a:srgbClr val="20B08A"/>
          </a:solidFill>
          <a:ln w="10160">
            <a:solidFill>
              <a:srgbClr val="20B0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6656" y="37033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6DFE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금융데이터의 수집·분석·저장·조회까지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6DFE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하나의 클라우드 서비스로 구현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6656" y="4809744"/>
            <a:ext cx="5422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FRED 5개 지표  ·  4개 시장  ·  0~100점 스트레스 지수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" y="6089904"/>
            <a:ext cx="5650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BED1D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클라우드컴퓨팅실습 7조  |  김종환 · 김태현 · 서수민 · </a:t>
            </a:r>
            <a:r>
              <a:rPr lang="en-US" sz="1000" dirty="0" err="1">
                <a:solidFill>
                  <a:srgbClr val="BED1D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송수원</a:t>
            </a:r>
            <a:r>
              <a:rPr lang="en-US" altLang="ko-KR" sz="1000" dirty="0">
                <a:solidFill>
                  <a:srgbClr val="BED1D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</a:t>
            </a:r>
            <a:r>
              <a:rPr lang="ko-KR" altLang="en-US" sz="1000" dirty="0">
                <a:solidFill>
                  <a:srgbClr val="BED1D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정혜지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33488" y="5760720"/>
            <a:ext cx="4133088" cy="356616"/>
          </a:xfrm>
          <a:prstGeom prst="roundRect">
            <a:avLst>
              <a:gd name="adj" fmla="val 41026"/>
            </a:avLst>
          </a:prstGeom>
          <a:solidFill>
            <a:srgbClr val="224C50"/>
          </a:solidFill>
          <a:ln w="10160">
            <a:solidFill>
              <a:srgbClr val="224C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470648" y="583339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EBE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구현·배포 화면 / 기준일 2026.10.09</a:t>
            </a:r>
            <a:endParaRPr lang="en-US" sz="1000" dirty="0"/>
          </a:p>
        </p:txBody>
      </p:sp>
      <p:pic>
        <p:nvPicPr>
          <p:cNvPr id="21" name="Picture 20" descr="team7_cover_photo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1069848"/>
            <a:ext cx="5102352" cy="45079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06D6D-81E6-DB41-0797-32B9448C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4A18E92-8BE5-3C55-7EE3-96E3783F88EF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87EAF6-0B9E-220F-C4BF-8E748BA82D56}"/>
              </a:ext>
            </a:extLst>
          </p:cNvPr>
          <p:cNvSpPr/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00 / SERVICE BACKGROUND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FBC335-23F5-B7EC-C60C-74AA51FB34FF}"/>
              </a:ext>
            </a:extLst>
          </p:cNvPr>
          <p:cNvSpPr/>
          <p:nvPr/>
        </p:nvSpPr>
        <p:spPr>
          <a:xfrm>
            <a:off x="8439912" y="2560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KAIST · CLOUD COMPUTING LAB · TEAM 7</a:t>
            </a:r>
            <a:endParaRPr lang="en-US" sz="83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8C970C-68BA-0F6D-A81F-B828FB318BC9}"/>
              </a:ext>
            </a:extLst>
          </p:cNvPr>
          <p:cNvSpPr/>
          <p:nvPr/>
        </p:nvSpPr>
        <p:spPr>
          <a:xfrm>
            <a:off x="566928" y="67665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금융시장 상시 모니터링의 필요성</a:t>
            </a:r>
            <a:endParaRPr lang="ko-KR" altLang="en-US" sz="2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755A88-695C-9199-684E-89F997E8A520}"/>
              </a:ext>
            </a:extLst>
          </p:cNvPr>
          <p:cNvSpPr/>
          <p:nvPr/>
        </p:nvSpPr>
        <p:spPr>
          <a:xfrm>
            <a:off x="576072" y="1225296"/>
            <a:ext cx="10789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12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리스크관리</a:t>
            </a:r>
            <a:r>
              <a:rPr lang="ko-KR" altLang="en-US" sz="112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정책과 종합 스트레스 지표 사례로 살펴본 서비스 개발 배경</a:t>
            </a:r>
            <a:endParaRPr lang="ko-KR" altLang="en-US" sz="112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6DBC64C-4EC5-02DC-BC6D-94105549F0D4}"/>
              </a:ext>
            </a:extLst>
          </p:cNvPr>
          <p:cNvSpPr/>
          <p:nvPr/>
        </p:nvSpPr>
        <p:spPr>
          <a:xfrm>
            <a:off x="566928" y="1581912"/>
            <a:ext cx="11091672" cy="0"/>
          </a:xfrm>
          <a:prstGeom prst="line">
            <a:avLst/>
          </a:prstGeom>
          <a:noFill/>
          <a:ln w="12700">
            <a:solidFill>
              <a:srgbClr val="DF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0C7B87B-2A4C-1F42-73FD-E5023938D484}"/>
              </a:ext>
            </a:extLst>
          </p:cNvPr>
          <p:cNvSpPr/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/ 10</a:t>
            </a:r>
            <a:endParaRPr lang="en-US" sz="870" dirty="0"/>
          </a:p>
        </p:txBody>
      </p:sp>
      <p:sp>
        <p:nvSpPr>
          <p:cNvPr id="55" name="background-introduction">
            <a:extLst>
              <a:ext uri="{FF2B5EF4-FFF2-40B4-BE49-F238E27FC236}">
                <a16:creationId xmlns:a16="http://schemas.microsoft.com/office/drawing/2014/main" id="{CDD3E7C9-9F9E-C160-EBF1-20723A5EFF26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5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dirty="0"/>
              <a:t>정책</a:t>
            </a:r>
            <a:r>
              <a:rPr lang="en-US" altLang="ko-KR" sz="1600" b="0" dirty="0">
                <a:solidFill>
                  <a:srgbClr val="34505B"/>
                </a:solidFill>
              </a:rPr>
              <a:t>·</a:t>
            </a:r>
            <a:r>
              <a:rPr lang="ko-KR" altLang="en-US" dirty="0"/>
              <a:t>기관은 </a:t>
            </a:r>
            <a:r>
              <a:rPr sz="15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상시</a:t>
            </a:r>
            <a:r>
              <a:rPr sz="15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5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위험점검과</a:t>
            </a:r>
            <a:r>
              <a:rPr sz="15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5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복수지표</a:t>
            </a:r>
            <a:r>
              <a:rPr lang="ko-KR" altLang="en-US" sz="15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를 통한</a:t>
            </a:r>
            <a:r>
              <a:rPr sz="15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5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종합진단</a:t>
            </a:r>
            <a:r>
              <a:rPr sz="15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lang="ko-KR" altLang="en-US" dirty="0"/>
              <a:t>필요성</a:t>
            </a:r>
            <a:r>
              <a:rPr lang="ko-KR" altLang="en-US" sz="15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5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강</a:t>
            </a:r>
            <a:r>
              <a:rPr lang="ko-KR" altLang="en-US" dirty="0"/>
              <a:t>조</a:t>
            </a:r>
            <a:endParaRPr sz="1500" b="1" dirty="0">
              <a:solidFill>
                <a:srgbClr val="183542"/>
              </a:solidFill>
              <a:latin typeface="NanumSquare"/>
              <a:ea typeface="NanumSquare"/>
              <a:cs typeface="NanumSquare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C59DE7A1-799F-00F7-713E-E5DAD5A5FC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5975945"/>
              </p:ext>
            </p:extLst>
          </p:nvPr>
        </p:nvGraphicFramePr>
        <p:xfrm>
          <a:off x="571499" y="2257425"/>
          <a:ext cx="11219447" cy="3133856"/>
        </p:xfrm>
        <a:graphic>
          <a:graphicData uri="http://schemas.openxmlformats.org/drawingml/2006/table">
            <a:tbl>
              <a:tblPr/>
              <a:tblGrid>
                <a:gridCol w="1350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8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921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발표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시점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/</a:t>
                      </a:r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기관</a:t>
                      </a:r>
                      <a:endParaRPr sz="1300" b="1" dirty="0">
                        <a:solidFill>
                          <a:srgbClr val="FFFFFF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>
                      <a:solidFill>
                        <a:srgbClr val="DFE8E8"/>
                      </a:solidFill>
                      <a:prstDash val="soli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193C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주요 내용</a:t>
                      </a: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>
                      <a:solidFill>
                        <a:srgbClr val="DFE8E8"/>
                      </a:solidFill>
                      <a:prstDash val="soli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193C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서비스 개발 시사점</a:t>
                      </a: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>
                      <a:solidFill>
                        <a:srgbClr val="DFE8E8"/>
                      </a:solidFill>
                      <a:prstDash val="soli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193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877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089474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2023.12</a:t>
                      </a:r>
                    </a:p>
                    <a:p>
                      <a:pPr algn="ctr"/>
                      <a:r>
                        <a:rPr sz="1300" b="1" dirty="0" err="1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한국은행</a:t>
                      </a:r>
                      <a:endParaRPr sz="1300" b="1" dirty="0">
                        <a:solidFill>
                          <a:srgbClr val="183542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ko-KR" sz="1300" b="1" dirty="0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『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금융안정보고서</a:t>
                      </a:r>
                      <a:r>
                        <a:rPr lang="en-US" altLang="ko-KR" sz="1300" b="1" dirty="0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』 -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금융불안지수</a:t>
                      </a:r>
                      <a:r>
                        <a:rPr sz="1300" b="1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(FSI) </a:t>
                      </a:r>
                      <a:r>
                        <a:rPr sz="1300" b="1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개편</a:t>
                      </a:r>
                      <a:endParaRPr sz="1300" b="1" dirty="0">
                        <a:solidFill>
                          <a:srgbClr val="34505B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여러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부문</a:t>
                      </a:r>
                      <a:r>
                        <a:rPr 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(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금융시장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대외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은행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비은행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실물 등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)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지표를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종합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한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단기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금융불안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진단</a:t>
                      </a:r>
                      <a:r>
                        <a:rPr 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지수 필요성 언급</a:t>
                      </a:r>
                      <a:endParaRPr sz="1300" b="0" dirty="0">
                        <a:solidFill>
                          <a:srgbClr val="34505B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다양한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시장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신호를</a:t>
                      </a:r>
                      <a:r>
                        <a:rPr 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일관된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기준으로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endParaRPr lang="en-US" sz="1300" b="0" dirty="0">
                        <a:solidFill>
                          <a:srgbClr val="34505B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비교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필요</a:t>
                      </a:r>
                      <a:endParaRPr sz="1300" b="0" dirty="0">
                        <a:solidFill>
                          <a:srgbClr val="34505B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278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089474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2025.01</a:t>
                      </a:r>
                    </a:p>
                    <a:p>
                      <a:pPr algn="ctr"/>
                      <a:r>
                        <a:rPr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금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융</a:t>
                      </a:r>
                      <a:r>
                        <a:rPr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투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자</a:t>
                      </a:r>
                      <a:r>
                        <a:rPr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협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회</a:t>
                      </a:r>
                      <a:endParaRPr sz="1300" b="1" dirty="0">
                        <a:solidFill>
                          <a:srgbClr val="183542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ko-KR" sz="1300" b="1" dirty="0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『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금융투자회사의 </a:t>
                      </a:r>
                      <a:r>
                        <a:rPr lang="ko-KR" altLang="en-US" sz="1300" b="1" dirty="0" err="1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리스크관리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 모범규준</a:t>
                      </a:r>
                      <a:r>
                        <a:rPr lang="en-US" altLang="ko-KR" sz="1300" b="1" dirty="0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』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+mn-lt"/>
                          <a:ea typeface="NanumSquare"/>
                          <a:cs typeface="NanumSquare"/>
                        </a:rPr>
                        <a:t>개정</a:t>
                      </a:r>
                      <a:endParaRPr sz="1300" b="0" dirty="0">
                        <a:solidFill>
                          <a:srgbClr val="34505B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조기경보지표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설정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운영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및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점검현황</a:t>
                      </a:r>
                      <a:r>
                        <a:rPr 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이사회 보고</a:t>
                      </a:r>
                      <a:endParaRPr sz="1300" b="0" dirty="0">
                        <a:solidFill>
                          <a:srgbClr val="34505B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위험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수준과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변화를</a:t>
                      </a:r>
                      <a:r>
                        <a:rPr 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반복적으로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점검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하여 조기경보를 보조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할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수단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필요</a:t>
                      </a:r>
                      <a:endParaRPr sz="1300" b="0" dirty="0">
                        <a:solidFill>
                          <a:srgbClr val="34505B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578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089474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2026.05</a:t>
                      </a:r>
                    </a:p>
                    <a:p>
                      <a:pPr algn="ctr"/>
                      <a:r>
                        <a:rPr sz="1300" b="1" dirty="0" err="1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금융위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원회</a:t>
                      </a:r>
                      <a:r>
                        <a:rPr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·</a:t>
                      </a:r>
                      <a:endParaRPr lang="en-US" sz="1300" b="1" dirty="0">
                        <a:solidFill>
                          <a:srgbClr val="183542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  <a:p>
                      <a:pPr algn="ctr"/>
                      <a:r>
                        <a:rPr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금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융</a:t>
                      </a:r>
                      <a:r>
                        <a:rPr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감</a:t>
                      </a:r>
                      <a:r>
                        <a:rPr lang="ko-KR" altLang="en-US"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독</a:t>
                      </a:r>
                      <a:r>
                        <a:rPr sz="1300" b="1" dirty="0">
                          <a:solidFill>
                            <a:srgbClr val="183542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원</a:t>
                      </a: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“</a:t>
                      </a:r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증권사 유동성 관리 강화를 위한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｢</a:t>
                      </a:r>
                      <a:r>
                        <a:rPr lang="ko-KR" altLang="en-US" sz="1300" b="1" dirty="0" err="1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금융투자업규정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｣ </a:t>
                      </a:r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및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｢</a:t>
                      </a:r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시행세칙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｣ </a:t>
                      </a:r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개정 추진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+mn-lt"/>
                          <a:ea typeface="NanumSquare"/>
                          <a:cs typeface="NanumSquare"/>
                        </a:rPr>
                        <a:t>”</a:t>
                      </a:r>
                      <a:endParaRPr lang="en-US" altLang="ko-KR" sz="1300" b="0" dirty="0">
                        <a:solidFill>
                          <a:srgbClr val="34505B"/>
                        </a:solidFill>
                        <a:latin typeface="+mn-lt"/>
                        <a:ea typeface="NanumSquare"/>
                        <a:cs typeface="NanumSquare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유동성비율이 정상적으로 보였음에도 실제 시장경색과 자금조달 어려움 발생</a:t>
                      </a:r>
                      <a:endParaRPr lang="en-US" altLang="ko-KR" sz="1300" b="0" dirty="0">
                        <a:solidFill>
                          <a:srgbClr val="34505B"/>
                        </a:solidFill>
                        <a:latin typeface="+mn-lt"/>
                        <a:ea typeface="NanumSquare"/>
                        <a:cs typeface="NanumSquare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단일지표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사후점검 外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시장상황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가격변동위험 반영한 </a:t>
                      </a:r>
                      <a:r>
                        <a:rPr lang="ko-KR" altLang="en-US" sz="1300" b="0" dirty="0" err="1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리스크관리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 체계 필요</a:t>
                      </a:r>
                      <a:endParaRPr lang="en-US" altLang="ko-KR" sz="1300" b="0" dirty="0">
                        <a:solidFill>
                          <a:srgbClr val="34505B"/>
                        </a:solidFill>
                        <a:latin typeface="+mn-lt"/>
                        <a:ea typeface="NanumSquare"/>
                        <a:cs typeface="NanumSquare"/>
                        <a:sym typeface="Wingdings" panose="05000000000000000000" pitchFamily="2" charset="2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     (‘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27.</a:t>
                      </a:r>
                      <a:r>
                        <a:rPr 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1.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1</a:t>
                      </a:r>
                      <a:r>
                        <a:rPr 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.</a:t>
                      </a:r>
                      <a:r>
                        <a:rPr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시행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예정</a:t>
                      </a:r>
                      <a:r>
                        <a:rPr 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)</a:t>
                      </a: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시장지표를 종합해 금융시장 위험을 측정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진단하는 모니터링서비스 개발필요</a:t>
                      </a:r>
                      <a:endParaRPr sz="1300" b="0" dirty="0">
                        <a:solidFill>
                          <a:srgbClr val="34505B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" name="service-purpose-background">
            <a:extLst>
              <a:ext uri="{FF2B5EF4-FFF2-40B4-BE49-F238E27FC236}">
                <a16:creationId xmlns:a16="http://schemas.microsoft.com/office/drawing/2014/main" id="{67CF28C7-196B-D599-1AFD-6BAB062443C3}"/>
              </a:ext>
            </a:extLst>
          </p:cNvPr>
          <p:cNvSpPr>
            <a:spLocks noGrp="1"/>
          </p:cNvSpPr>
          <p:nvPr/>
        </p:nvSpPr>
        <p:spPr>
          <a:xfrm>
            <a:off x="598932" y="5556454"/>
            <a:ext cx="11192014" cy="887826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ervice-purpose">
            <a:extLst>
              <a:ext uri="{FF2B5EF4-FFF2-40B4-BE49-F238E27FC236}">
                <a16:creationId xmlns:a16="http://schemas.microsoft.com/office/drawing/2014/main" id="{53A504A8-3408-ED69-DB7C-9DAD54DA90FE}"/>
              </a:ext>
            </a:extLst>
          </p:cNvPr>
          <p:cNvSpPr>
            <a:spLocks noGrp="1"/>
          </p:cNvSpPr>
          <p:nvPr/>
        </p:nvSpPr>
        <p:spPr>
          <a:xfrm>
            <a:off x="760157" y="5709350"/>
            <a:ext cx="10629900" cy="3276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575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흩어진 시장 데이터를 하나로</a:t>
            </a:r>
            <a:r>
              <a:rPr lang="en-US" altLang="ko-KR" sz="1575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, </a:t>
            </a:r>
            <a:r>
              <a:rPr lang="ko-KR" altLang="en-US" sz="1575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위</a:t>
            </a:r>
            <a:r>
              <a:rPr lang="ko-KR" altLang="en-US" dirty="0"/>
              <a:t>험 신호를</a:t>
            </a:r>
            <a:r>
              <a:rPr lang="ko-KR" altLang="en-US" sz="1575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한눈에</a:t>
            </a:r>
            <a:endParaRPr sz="1575" b="1" dirty="0">
              <a:solidFill>
                <a:srgbClr val="183542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70" name="service-purpose">
            <a:extLst>
              <a:ext uri="{FF2B5EF4-FFF2-40B4-BE49-F238E27FC236}">
                <a16:creationId xmlns:a16="http://schemas.microsoft.com/office/drawing/2014/main" id="{AAA2D5EE-EA66-D457-1BA6-9657C74F2AE6}"/>
              </a:ext>
            </a:extLst>
          </p:cNvPr>
          <p:cNvSpPr>
            <a:spLocks noGrp="1"/>
          </p:cNvSpPr>
          <p:nvPr/>
        </p:nvSpPr>
        <p:spPr>
          <a:xfrm>
            <a:off x="760157" y="6025557"/>
            <a:ext cx="10629900" cy="3276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시장분석 담당자가 데이터를 따로 찾아 비교하지 않아도</a:t>
            </a:r>
            <a:r>
              <a:rPr lang="en-US" altLang="ko-KR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, </a:t>
            </a: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위험을 키우는 시장과 동시 확산 여부를 빠르게 확인합니다</a:t>
            </a:r>
            <a:r>
              <a:rPr lang="en-US" altLang="ko-KR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.</a:t>
            </a:r>
            <a:endParaRPr sz="1200" b="0" dirty="0">
              <a:solidFill>
                <a:srgbClr val="183542"/>
              </a:solidFill>
              <a:latin typeface="NanumSquare"/>
              <a:ea typeface="NanumSquare"/>
              <a:cs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29911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8ECA-B57E-862B-35E9-AAF892C2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8E131A6-8EBE-8CFC-2FC6-739843EF69B7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490589A-42F5-613B-60B2-68065A6C36BA}"/>
              </a:ext>
            </a:extLst>
          </p:cNvPr>
          <p:cNvSpPr>
            <a:spLocks noGrp="1"/>
          </p:cNvSpPr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86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863" b="1" spc="200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0</a:t>
            </a:r>
            <a:r>
              <a:rPr lang="en-US" sz="863" b="1" spc="200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1</a:t>
            </a:r>
            <a:r>
              <a:rPr sz="863" b="1" spc="200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 / BUSINESS MODEL</a:t>
            </a:r>
            <a:endParaRPr sz="9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1572E88-0B5E-133B-F27E-B7AD32B3DDD5}"/>
              </a:ext>
            </a:extLst>
          </p:cNvPr>
          <p:cNvSpPr>
            <a:spLocks noGrp="1"/>
          </p:cNvSpPr>
          <p:nvPr/>
        </p:nvSpPr>
        <p:spPr>
          <a:xfrm>
            <a:off x="8439912" y="256032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30" b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KAIST · CLOUD COMPUTING LAB · TEAM 7</a:t>
            </a:r>
            <a:endParaRPr sz="83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C842B4E6-F815-2548-73EF-4357241870AC}"/>
              </a:ext>
            </a:extLst>
          </p:cNvPr>
          <p:cNvSpPr>
            <a:spLocks noGrp="1"/>
          </p:cNvSpPr>
          <p:nvPr/>
        </p:nvSpPr>
        <p:spPr>
          <a:xfrm>
            <a:off x="566928" y="676656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27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dirty="0"/>
              <a:t>금융시장 스트레스 모니터링의 활용 시나리오와 비즈니스 모델</a:t>
            </a:r>
            <a:endParaRPr sz="27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54FA1AC0-C1FF-ACAA-4B10-74A655E206FC}"/>
              </a:ext>
            </a:extLst>
          </p:cNvPr>
          <p:cNvSpPr>
            <a:spLocks noGrp="1"/>
          </p:cNvSpPr>
          <p:nvPr/>
        </p:nvSpPr>
        <p:spPr>
          <a:xfrm>
            <a:off x="576072" y="1225296"/>
            <a:ext cx="10789920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12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12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반복적인 시장점검 업무를 데이터 기반으로 지원하고</a:t>
            </a:r>
            <a:r>
              <a:rPr lang="en-US" altLang="ko-KR" sz="112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, </a:t>
            </a:r>
            <a:r>
              <a:rPr lang="ko-KR" altLang="en-US" sz="112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자산운용사</a:t>
            </a:r>
            <a:r>
              <a:rPr lang="en-US" altLang="ko-KR" sz="112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·</a:t>
            </a:r>
            <a:r>
              <a:rPr lang="ko-KR" altLang="en-US" sz="112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투자자문사 內 시장분석</a:t>
            </a:r>
            <a:r>
              <a:rPr lang="en-US" altLang="ko-KR" dirty="0"/>
              <a:t>·</a:t>
            </a:r>
            <a:r>
              <a:rPr lang="ko-KR" altLang="en-US" sz="112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리스크관리</a:t>
            </a:r>
            <a:r>
              <a:rPr lang="ko-KR" altLang="en-US" sz="112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담당자</a:t>
            </a:r>
            <a:r>
              <a:rPr lang="en-US" altLang="ko-KR" dirty="0"/>
              <a:t> </a:t>
            </a:r>
            <a:r>
              <a:rPr lang="ko-KR" altLang="en-US" sz="112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대상 서비스로 확장하는 지속 가능한 운영 모델</a:t>
            </a:r>
            <a:endParaRPr sz="112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836BCB64-4B79-3407-66D8-67507D977AD2}"/>
              </a:ext>
            </a:extLst>
          </p:cNvPr>
          <p:cNvSpPr>
            <a:spLocks noGrp="1"/>
          </p:cNvSpPr>
          <p:nvPr/>
        </p:nvSpPr>
        <p:spPr>
          <a:xfrm>
            <a:off x="566928" y="1581912"/>
            <a:ext cx="11091672" cy="0"/>
          </a:xfrm>
          <a:prstGeom prst="line">
            <a:avLst/>
          </a:prstGeom>
          <a:noFill/>
          <a:ln w="12700">
            <a:solidFill>
              <a:srgbClr val="DF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cenario-introduction">
            <a:extLst>
              <a:ext uri="{FF2B5EF4-FFF2-40B4-BE49-F238E27FC236}">
                <a16:creationId xmlns:a16="http://schemas.microsoft.com/office/drawing/2014/main" id="{6A6A6144-5C98-0382-6358-4A64A0FDF265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1108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14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463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정책적</a:t>
            </a:r>
            <a:r>
              <a:rPr sz="1463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463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요구</a:t>
            </a:r>
            <a:r>
              <a:rPr lang="en-US" sz="1463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lang="en-US" sz="1463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  <a:sym typeface="Wingdings" panose="05000000000000000000" pitchFamily="2" charset="2"/>
              </a:rPr>
              <a:t></a:t>
            </a:r>
            <a:r>
              <a:rPr lang="ko-KR" altLang="en-US" sz="1463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자산운용사</a:t>
            </a:r>
            <a:r>
              <a:rPr lang="en-US" altLang="ko-KR" sz="1463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·</a:t>
            </a:r>
            <a:r>
              <a:rPr lang="ko-KR" altLang="en-US" sz="1463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투자자문사의 반복적인 시장점검 업무와 지속 가능한 서비스 모델로 연결</a:t>
            </a:r>
            <a:endParaRPr sz="1463" b="1" dirty="0">
              <a:solidFill>
                <a:srgbClr val="183542"/>
              </a:solidFill>
              <a:latin typeface="NanumSquare"/>
              <a:ea typeface="NanumSquare"/>
              <a:cs typeface="NanumSquare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C0F31F5-C75B-3779-0C6A-4284404429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3634963"/>
              </p:ext>
            </p:extLst>
          </p:nvPr>
        </p:nvGraphicFramePr>
        <p:xfrm>
          <a:off x="571499" y="2219324"/>
          <a:ext cx="11087099" cy="3698614"/>
        </p:xfrm>
        <a:graphic>
          <a:graphicData uri="http://schemas.openxmlformats.org/drawingml/2006/table">
            <a:tbl>
              <a:tblPr/>
              <a:tblGrid>
                <a:gridCol w="1796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4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구분</a:t>
                      </a:r>
                      <a:endParaRPr sz="1300" b="1" dirty="0">
                        <a:solidFill>
                          <a:srgbClr val="FFFFFF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>
                      <a:solidFill>
                        <a:srgbClr val="DFE8E8"/>
                      </a:solidFill>
                      <a:prstDash val="soli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193C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비즈니스 모델</a:t>
                      </a:r>
                      <a:endParaRPr sz="1300" b="1" dirty="0">
                        <a:solidFill>
                          <a:srgbClr val="FFFFFF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>
                      <a:solidFill>
                        <a:srgbClr val="DFE8E8"/>
                      </a:solidFill>
                      <a:prstDash val="soli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193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029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chemeClr val="tx1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대상</a:t>
                      </a:r>
                      <a:r>
                        <a:rPr sz="1300" b="1" dirty="0">
                          <a:solidFill>
                            <a:schemeClr val="tx1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</a:t>
                      </a:r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고객</a:t>
                      </a:r>
                      <a:endParaRPr sz="1300" b="1" dirty="0">
                        <a:solidFill>
                          <a:schemeClr val="tx1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자체 분석 인력이 제한된 금융회사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(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자산운용사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투자자문사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)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 시장분석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 err="1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리스크관리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 담당자</a:t>
                      </a: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176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제공 가치</a:t>
                      </a:r>
                      <a:endParaRPr sz="1300" b="1" dirty="0">
                        <a:solidFill>
                          <a:schemeClr val="tx1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서로 다른 단위의 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4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개 시장 지표를 매일 </a:t>
                      </a:r>
                      <a:r>
                        <a:rPr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취합·비교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하여 </a:t>
                      </a:r>
                      <a:r>
                        <a:rPr lang="ko-KR" altLang="en-US" sz="1300" b="0" dirty="0" err="1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시장별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 위험 수준과 종합 상태 확인</a:t>
                      </a:r>
                      <a:endParaRPr lang="en-US" sz="1300" b="0" dirty="0">
                        <a:solidFill>
                          <a:srgbClr val="34505B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Wingdings" panose="05000000000000000000" pitchFamily="2" charset="2"/>
                        <a:buChar char="à"/>
                      </a:pP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위험을 키운 시장과 여러 시장에서 동시에 나타나는 스트레스 존재 여부 파악</a:t>
                      </a:r>
                      <a:endParaRPr lang="en-US" altLang="ko-KR" sz="1300" b="0" dirty="0">
                        <a:solidFill>
                          <a:srgbClr val="34505B"/>
                        </a:solidFill>
                        <a:latin typeface="+mn-lt"/>
                        <a:ea typeface="NanumSquare"/>
                        <a:cs typeface="NanumSquare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점수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주요 기여시장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동시 스트레스 수준을 바탕으로 추가 분석 및 보고 우선순위 결정</a:t>
                      </a: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176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수익창출 및</a:t>
                      </a:r>
                      <a:endParaRPr lang="en-US" altLang="ko-KR" sz="1300" b="1" dirty="0">
                        <a:solidFill>
                          <a:schemeClr val="tx1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  <a:p>
                      <a:pPr algn="ctr"/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NanumSquare"/>
                          <a:ea typeface="NanumSquare"/>
                          <a:cs typeface="NanumSquare"/>
                        </a:rPr>
                        <a:t>지속가능 운영방안</a:t>
                      </a:r>
                      <a:endParaRPr sz="1300" b="1" dirty="0">
                        <a:solidFill>
                          <a:schemeClr val="tx1"/>
                        </a:solidFill>
                        <a:latin typeface="NanumSquare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공개 데이터 기반 무료 대시보드로 초기 사용자와 활용 사례 확보 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팀 구독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맞춤 리포트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기관 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API 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연동으로 확장</a:t>
                      </a:r>
                      <a:endParaRPr lang="en-US" altLang="ko-KR" sz="1300" b="0" dirty="0">
                        <a:solidFill>
                          <a:srgbClr val="34505B"/>
                        </a:solidFill>
                        <a:latin typeface="+mn-lt"/>
                        <a:ea typeface="NanumSquare"/>
                        <a:cs typeface="NanumSquare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 구독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·API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 이용료를 기반으로 </a:t>
                      </a:r>
                      <a:r>
                        <a:rPr lang="ko-KR" altLang="en-US" sz="1300" b="0" dirty="0" err="1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운영</a:t>
                      </a:r>
                      <a:r>
                        <a:rPr lang="ko-KR" altLang="ko-KR" sz="1400" dirty="0" err="1"/>
                        <a:t>·유</a:t>
                      </a:r>
                      <a:r>
                        <a:rPr lang="ko-KR" altLang="en-US" sz="1300" b="0" dirty="0" err="1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지보수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 비용을 충당하고</a:t>
                      </a:r>
                      <a:r>
                        <a:rPr lang="en-US" altLang="ko-KR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,</a:t>
                      </a:r>
                      <a:r>
                        <a:rPr lang="ko-KR" altLang="en-US" sz="1300" b="0" dirty="0">
                          <a:solidFill>
                            <a:srgbClr val="34505B"/>
                          </a:solidFill>
                          <a:latin typeface="+mn-lt"/>
                          <a:ea typeface="NanumSquare"/>
                          <a:cs typeface="NanumSquare"/>
                        </a:rPr>
                        <a:t> 지속 가능한 수익 구조 구축</a:t>
                      </a: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8">
            <a:extLst>
              <a:ext uri="{FF2B5EF4-FFF2-40B4-BE49-F238E27FC236}">
                <a16:creationId xmlns:a16="http://schemas.microsoft.com/office/drawing/2014/main" id="{D2E93ECF-F957-B303-0D1B-071CA840FE80}"/>
              </a:ext>
            </a:extLst>
          </p:cNvPr>
          <p:cNvSpPr/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10</a:t>
            </a:r>
            <a:endParaRPr lang="en-US" sz="870" dirty="0"/>
          </a:p>
        </p:txBody>
      </p:sp>
    </p:spTree>
    <p:extLst>
      <p:ext uri="{BB962C8B-B14F-4D97-AF65-F5344CB8AC3E}">
        <p14:creationId xmlns:p14="http://schemas.microsoft.com/office/powerpoint/2010/main" val="3866911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 / SERVICE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39912" y="2560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KAIST · CLOUD COMPUTING LAB · TEAM 7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서로</a:t>
            </a:r>
            <a:r>
              <a:rPr lang="en-US" sz="27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다른 시장의 신호를 한눈에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76072" y="1225296"/>
            <a:ext cx="10789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분산된 금융지표를 하나의 공통 척도로 표준화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11091672" cy="0"/>
          </a:xfrm>
          <a:prstGeom prst="line">
            <a:avLst/>
          </a:prstGeom>
          <a:noFill/>
          <a:ln w="12700">
            <a:solidFill>
              <a:srgbClr val="DF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10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94360" y="1810512"/>
            <a:ext cx="4645152" cy="2788920"/>
          </a:xfrm>
          <a:prstGeom prst="roundRect">
            <a:avLst>
              <a:gd name="adj" fmla="val 3279"/>
            </a:avLst>
          </a:prstGeom>
          <a:solidFill>
            <a:srgbClr val="F5F8F8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841248" y="2020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7551" y="2450592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92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077" y="2446303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정보 </a:t>
            </a:r>
            <a:r>
              <a:rPr lang="en-US" sz="14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92616" y="2436876"/>
            <a:ext cx="283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주식·외환·금리·신용 지표가 </a:t>
            </a:r>
            <a:r>
              <a:rPr lang="en-US" sz="1200" dirty="0" err="1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여러</a:t>
            </a:r>
            <a:r>
              <a:rPr lang="en-US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화면에 흩어져 있음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7551" y="3119236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92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077" y="3114947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상이한</a:t>
            </a:r>
            <a:r>
              <a:rPr lang="en-US" sz="1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척도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92616" y="3105520"/>
            <a:ext cx="283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지표마다 단위</a:t>
            </a:r>
            <a:r>
              <a:rPr lang="en-US" altLang="ko-KR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</a:t>
            </a:r>
            <a:r>
              <a:rPr lang="en-US" sz="1200" dirty="0" err="1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지수·원</a:t>
            </a:r>
            <a:r>
              <a:rPr lang="en-US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·%·%p)</a:t>
            </a:r>
            <a:r>
              <a:rPr lang="ko-KR" altLang="en-US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와 해석 기준이 달라 동일한 기준으로 비교 어려움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7551" y="3806734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926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7650" y="3774164"/>
            <a:ext cx="1408586" cy="39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종합판단의 한계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92616" y="3793018"/>
            <a:ext cx="283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개별 수치만으로는 현재 위험수준과 </a:t>
            </a:r>
            <a:endParaRPr lang="en-US" altLang="ko-KR" sz="1200" dirty="0">
              <a:solidFill>
                <a:srgbClr val="34505B"/>
              </a:solidFill>
              <a:latin typeface="NanumSquare" pitchFamily="34" charset="0"/>
              <a:ea typeface="NanumSquare" pitchFamily="34" charset="-122"/>
              <a:cs typeface="NanumSquare" pitchFamily="34" charset="-120"/>
            </a:endParaRPr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기여시장</a:t>
            </a:r>
            <a:r>
              <a:rPr lang="en-US" altLang="ko-KR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200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동시 확산 여부 파악 어려움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13248" y="1810512"/>
            <a:ext cx="6199632" cy="2788920"/>
          </a:xfrm>
          <a:prstGeom prst="roundRect">
            <a:avLst>
              <a:gd name="adj" fmla="val 3279"/>
            </a:avLst>
          </a:prstGeom>
          <a:solidFill>
            <a:srgbClr val="102D3A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696712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A6DFD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96712" y="2450592"/>
            <a:ext cx="5788152" cy="63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5개 지표  →  4개 </a:t>
            </a:r>
            <a:r>
              <a:rPr lang="en-US" sz="2400" b="1" dirty="0" err="1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시장</a:t>
            </a:r>
            <a:r>
              <a:rPr lang="ko-KR" altLang="en-US" sz="2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별 점수</a:t>
            </a:r>
            <a:r>
              <a:rPr lang="en-US" sz="2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 →  1개 </a:t>
            </a:r>
            <a:r>
              <a:rPr lang="ko-KR" altLang="en-US" sz="2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종합</a:t>
            </a:r>
            <a:r>
              <a:rPr lang="en-US" sz="2400" b="1" dirty="0" err="1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지수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715000" y="313639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3E7E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0–100점 </a:t>
            </a:r>
            <a:r>
              <a:rPr lang="ko-KR" altLang="en-US" sz="1400" dirty="0">
                <a:solidFill>
                  <a:srgbClr val="D3E7E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종합지수</a:t>
            </a:r>
            <a:r>
              <a:rPr lang="en-US" sz="1400" dirty="0">
                <a:solidFill>
                  <a:srgbClr val="D3E7E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· 4단계 위험수준 · 시장별 기여도 · 과거 추이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33288" y="3858768"/>
            <a:ext cx="886968" cy="347472"/>
          </a:xfrm>
          <a:prstGeom prst="roundRect">
            <a:avLst>
              <a:gd name="adj" fmla="val 36842"/>
            </a:avLst>
          </a:prstGeom>
          <a:solidFill>
            <a:srgbClr val="D4F2E5"/>
          </a:solidFill>
          <a:ln w="10160">
            <a:solidFill>
              <a:srgbClr val="D4F2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806440" y="3863340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57416" y="3858768"/>
            <a:ext cx="886968" cy="347472"/>
          </a:xfrm>
          <a:prstGeom prst="roundRect">
            <a:avLst>
              <a:gd name="adj" fmla="val 36842"/>
            </a:avLst>
          </a:prstGeom>
          <a:solidFill>
            <a:srgbClr val="FFF1D8"/>
          </a:solidFill>
          <a:ln w="10160">
            <a:solidFill>
              <a:srgbClr val="FFF1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830568" y="3863340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650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주의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81544" y="3858768"/>
            <a:ext cx="886968" cy="347472"/>
          </a:xfrm>
          <a:prstGeom prst="roundRect">
            <a:avLst>
              <a:gd name="adj" fmla="val 36842"/>
            </a:avLst>
          </a:prstGeom>
          <a:solidFill>
            <a:srgbClr val="FCE9DE"/>
          </a:solidFill>
          <a:ln w="10160">
            <a:solidFill>
              <a:srgbClr val="FCE9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854696" y="3863340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65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경계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805672" y="3858768"/>
            <a:ext cx="886968" cy="347472"/>
          </a:xfrm>
          <a:prstGeom prst="roundRect">
            <a:avLst>
              <a:gd name="adj" fmla="val 36842"/>
            </a:avLst>
          </a:prstGeom>
          <a:solidFill>
            <a:srgbClr val="FBE7E8"/>
          </a:solidFill>
          <a:ln w="10160">
            <a:solidFill>
              <a:srgbClr val="FBE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878824" y="3863340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D344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91947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USER JOURNEY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7512" y="5285232"/>
            <a:ext cx="2468880" cy="667512"/>
          </a:xfrm>
          <a:prstGeom prst="roundRect">
            <a:avLst>
              <a:gd name="adj" fmla="val 15068"/>
            </a:avLst>
          </a:prstGeom>
          <a:solidFill>
            <a:srgbClr val="EAF4F1"/>
          </a:solidFill>
          <a:ln w="10160">
            <a:solidFill>
              <a:srgbClr val="EAF4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7" name="Text 35"/>
          <p:cNvSpPr/>
          <p:nvPr/>
        </p:nvSpPr>
        <p:spPr>
          <a:xfrm>
            <a:off x="795528" y="5489230"/>
            <a:ext cx="356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97864" y="5498374"/>
            <a:ext cx="1783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종합</a:t>
            </a: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 위험 수준 확인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85526" y="550751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502152" y="5285232"/>
            <a:ext cx="2468880" cy="667512"/>
          </a:xfrm>
          <a:prstGeom prst="roundRect">
            <a:avLst>
              <a:gd name="adj" fmla="val 15068"/>
            </a:avLst>
          </a:prstGeom>
          <a:solidFill>
            <a:srgbClr val="EAF4F1"/>
          </a:solidFill>
          <a:ln w="10160">
            <a:solidFill>
              <a:srgbClr val="EAF4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1" name="Text 39"/>
          <p:cNvSpPr/>
          <p:nvPr/>
        </p:nvSpPr>
        <p:spPr>
          <a:xfrm>
            <a:off x="3630168" y="5489230"/>
            <a:ext cx="356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023077" y="5498374"/>
            <a:ext cx="1783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위험에 기여하는 시장 식별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0166" y="550751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36792" y="5285232"/>
            <a:ext cx="2468880" cy="667512"/>
          </a:xfrm>
          <a:prstGeom prst="roundRect">
            <a:avLst>
              <a:gd name="adj" fmla="val 15068"/>
            </a:avLst>
          </a:prstGeom>
          <a:solidFill>
            <a:srgbClr val="EAF4F1"/>
          </a:solidFill>
          <a:ln w="10160">
            <a:solidFill>
              <a:srgbClr val="EAF4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5" name="Text 43"/>
          <p:cNvSpPr/>
          <p:nvPr/>
        </p:nvSpPr>
        <p:spPr>
          <a:xfrm>
            <a:off x="6464808" y="5489230"/>
            <a:ext cx="356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67144" y="5498374"/>
            <a:ext cx="1783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2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기여도·과거</a:t>
            </a: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2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추이</a:t>
            </a: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비교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954806" y="550751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171432" y="5285232"/>
            <a:ext cx="2468880" cy="667512"/>
          </a:xfrm>
          <a:prstGeom prst="roundRect">
            <a:avLst>
              <a:gd name="adj" fmla="val 15068"/>
            </a:avLst>
          </a:prstGeom>
          <a:solidFill>
            <a:srgbClr val="EAF4F1"/>
          </a:solidFill>
          <a:ln w="10160">
            <a:solidFill>
              <a:srgbClr val="EAF4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9" name="Text 47"/>
          <p:cNvSpPr/>
          <p:nvPr/>
        </p:nvSpPr>
        <p:spPr>
          <a:xfrm>
            <a:off x="9299448" y="5489230"/>
            <a:ext cx="356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701784" y="5498374"/>
            <a:ext cx="1783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일일</a:t>
            </a: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시장 </a:t>
            </a:r>
            <a:r>
              <a:rPr lang="en-US" sz="12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모니터링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SERVICE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48790" y="2560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KAIST · CLOUD COMPUTING LAB · TEAM 7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수집·계산과 사용자 조회를 분리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76072" y="1225296"/>
            <a:ext cx="10789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FRED → Python Pipeline → </a:t>
            </a:r>
            <a:r>
              <a:rPr lang="en-US" altLang="ko-KR" sz="1200" dirty="0" err="1">
                <a:solidFill>
                  <a:srgbClr val="6F8790"/>
                </a:solidFill>
                <a:ea typeface="NanumSquare"/>
                <a:cs typeface="NanumSquare"/>
              </a:rPr>
              <a:t>Supabase</a:t>
            </a: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 → </a:t>
            </a:r>
            <a:r>
              <a:rPr lang="en-US" altLang="ko-KR" sz="1200" dirty="0" err="1">
                <a:solidFill>
                  <a:srgbClr val="6F8790"/>
                </a:solidFill>
                <a:ea typeface="NanumSquare"/>
                <a:cs typeface="NanumSquare"/>
              </a:rPr>
              <a:t>FastAPI</a:t>
            </a: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 → Render(Web Dashboard)</a:t>
            </a:r>
            <a:endParaRPr lang="en-US" altLang="ko-KR" sz="1400" dirty="0">
              <a:solidFill>
                <a:srgbClr val="6F8790"/>
              </a:solidFill>
              <a:latin typeface="NanumSquare" pitchFamily="34" charset="0"/>
              <a:ea typeface="NanumSquare" pitchFamily="34" charset="-122"/>
              <a:cs typeface="NanumSquare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11091672" cy="0"/>
          </a:xfrm>
          <a:prstGeom prst="line">
            <a:avLst/>
          </a:prstGeom>
          <a:noFill/>
          <a:ln w="12700">
            <a:solidFill>
              <a:srgbClr val="DF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10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94360" y="1828800"/>
            <a:ext cx="11018520" cy="2048256"/>
          </a:xfrm>
          <a:prstGeom prst="roundRect">
            <a:avLst>
              <a:gd name="adj" fmla="val 4464"/>
            </a:avLst>
          </a:prstGeom>
          <a:solidFill>
            <a:srgbClr val="F5F9F7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pPr algn="ctr">
              <a:defRPr sz="139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endParaRPr lang="ko-KR" alt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9507" y="1921372"/>
            <a:ext cx="1335024" cy="301752"/>
          </a:xfrm>
          <a:prstGeom prst="roundRect">
            <a:avLst>
              <a:gd name="adj" fmla="val 24242"/>
            </a:avLst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803" y="1948804"/>
            <a:ext cx="11612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BATCH /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450592"/>
            <a:ext cx="2267712" cy="124358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7E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14984" y="2558056"/>
            <a:ext cx="2066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FRED Open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29698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F8790"/>
                </a:solidFill>
                <a:ea typeface="NanumSquare" pitchFamily="34" charset="-122"/>
                <a:cs typeface="NanumSquare" pitchFamily="34" charset="-120"/>
              </a:rPr>
              <a:t>5개 지표 · FRED Open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066021"/>
            <a:ext cx="192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557016" y="2450592"/>
            <a:ext cx="2267712" cy="124358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7E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0" y="2577790"/>
            <a:ext cx="2066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수집·전처리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0168" y="30283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defRPr sz="84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예약 실행</a:t>
            </a:r>
            <a:endParaRPr lang="en-US" altLang="ko-KR" sz="1200" dirty="0">
              <a:solidFill>
                <a:srgbClr val="6F8790"/>
              </a:solidFill>
              <a:ea typeface="NanumSquare"/>
              <a:cs typeface="NanumSquare"/>
            </a:endParaRPr>
          </a:p>
          <a:p>
            <a:pPr algn="ctr">
              <a:defRPr sz="84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(</a:t>
            </a:r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자동</a:t>
            </a: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 </a:t>
            </a:r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데이터 수집</a:t>
            </a: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) ·</a:t>
            </a:r>
            <a:r>
              <a:rPr lang="ko-KR" altLang="en-US" sz="1200" dirty="0" err="1">
                <a:solidFill>
                  <a:srgbClr val="6F8790"/>
                </a:solidFill>
                <a:ea typeface="NanumSquare"/>
                <a:cs typeface="NanumSquare"/>
              </a:rPr>
              <a:t>전처리</a:t>
            </a:r>
            <a:endParaRPr lang="en-US" altLang="ko-KR" sz="1200" dirty="0">
              <a:solidFill>
                <a:srgbClr val="6F8790"/>
              </a:solidFill>
              <a:ea typeface="NanumSquare"/>
              <a:cs typeface="NanumSquare"/>
            </a:endParaRPr>
          </a:p>
          <a:p>
            <a:pPr algn="ctr">
              <a:defRPr sz="84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[collect.py]</a:t>
            </a:r>
          </a:p>
        </p:txBody>
      </p:sp>
      <p:sp>
        <p:nvSpPr>
          <p:cNvPr id="24" name="Text 22"/>
          <p:cNvSpPr/>
          <p:nvPr/>
        </p:nvSpPr>
        <p:spPr>
          <a:xfrm>
            <a:off x="5980176" y="3066021"/>
            <a:ext cx="192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199632" y="2450592"/>
            <a:ext cx="2267712" cy="124358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7E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199632" y="2485697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4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시장별</a:t>
            </a:r>
            <a:r>
              <a:rPr lang="en-US" altLang="ko-KR" sz="1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·</a:t>
            </a:r>
            <a:r>
              <a:rPr lang="ko-KR" altLang="en-US" sz="1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종합점수</a:t>
            </a:r>
            <a:r>
              <a:rPr lang="en-US" sz="1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4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72784" y="2962655"/>
            <a:ext cx="2167128" cy="57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지표별 과거 백분위 → </a:t>
            </a: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0~25</a:t>
            </a:r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점 → </a:t>
            </a: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4</a:t>
            </a:r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개 시장 합산 </a:t>
            </a: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0~100</a:t>
            </a:r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점</a:t>
            </a:r>
            <a:endParaRPr lang="ko-KR" altLang="en-US" sz="1200" dirty="0"/>
          </a:p>
          <a:p>
            <a:pPr algn="ctr"/>
            <a:r>
              <a:rPr lang="en-US" altLang="ko-KR" sz="1200" dirty="0">
                <a:solidFill>
                  <a:srgbClr val="6F8790"/>
                </a:solidFill>
                <a:ea typeface="NanumSquare" pitchFamily="34" charset="-122"/>
                <a:cs typeface="NanumSquare" pitchFamily="34" charset="-120"/>
              </a:rPr>
              <a:t>[scoring.py]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22792" y="3066021"/>
            <a:ext cx="192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842248" y="2450592"/>
            <a:ext cx="2267712" cy="1243584"/>
          </a:xfrm>
          <a:prstGeom prst="roundRect">
            <a:avLst>
              <a:gd name="adj" fmla="val 7018"/>
            </a:avLst>
          </a:prstGeom>
          <a:solidFill>
            <a:srgbClr val="D8EEE7"/>
          </a:solidFill>
          <a:ln w="10160">
            <a:solidFill>
              <a:srgbClr val="D7E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942832" y="2558056"/>
            <a:ext cx="2066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Supabase DB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42832" y="30028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F8790"/>
                </a:solidFill>
                <a:ea typeface="NanumSquare" pitchFamily="34" charset="-122"/>
                <a:cs typeface="NanumSquare" pitchFamily="34" charset="-120"/>
              </a:rPr>
              <a:t>PostgreSQL · 5개 </a:t>
            </a:r>
            <a:r>
              <a:rPr lang="en-US" sz="1200" dirty="0" err="1">
                <a:solidFill>
                  <a:srgbClr val="6F8790"/>
                </a:solidFill>
                <a:ea typeface="NanumSquare" pitchFamily="34" charset="-122"/>
                <a:cs typeface="NanumSquare" pitchFamily="34" charset="-120"/>
              </a:rPr>
              <a:t>테이블</a:t>
            </a:r>
            <a:endParaRPr lang="ko-KR" altLang="en-US" sz="1200" dirty="0"/>
          </a:p>
          <a:p>
            <a:pPr algn="ctr">
              <a:defRPr sz="81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지표</a:t>
            </a: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·</a:t>
            </a:r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점수</a:t>
            </a:r>
            <a:r>
              <a:rPr lang="en-US" altLang="ko-KR" sz="1200" dirty="0">
                <a:solidFill>
                  <a:srgbClr val="6F8790"/>
                </a:solidFill>
                <a:ea typeface="NanumSquare"/>
                <a:cs typeface="NanumSquare"/>
              </a:rPr>
              <a:t>·</a:t>
            </a:r>
            <a:r>
              <a:rPr lang="ko-KR" altLang="en-US" sz="1200" dirty="0">
                <a:solidFill>
                  <a:srgbClr val="6F8790"/>
                </a:solidFill>
                <a:ea typeface="NanumSquare"/>
                <a:cs typeface="NanumSquare"/>
              </a:rPr>
              <a:t>실행 이력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" y="4105656"/>
            <a:ext cx="11018520" cy="1481328"/>
          </a:xfrm>
          <a:prstGeom prst="roundRect">
            <a:avLst>
              <a:gd name="adj" fmla="val 6173"/>
            </a:avLst>
          </a:prstGeom>
          <a:solidFill>
            <a:srgbClr val="102D3A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85800" y="4197662"/>
            <a:ext cx="1389888" cy="301752"/>
          </a:xfrm>
          <a:prstGeom prst="roundRect">
            <a:avLst>
              <a:gd name="adj" fmla="val 24242"/>
            </a:avLst>
          </a:prstGeom>
          <a:solidFill>
            <a:srgbClr val="316678"/>
          </a:solidFill>
          <a:ln w="10160">
            <a:solidFill>
              <a:srgbClr val="316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49808" y="422509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SERVING / USER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33272" y="4572000"/>
            <a:ext cx="4507992" cy="704088"/>
          </a:xfrm>
          <a:prstGeom prst="roundRect">
            <a:avLst>
              <a:gd name="adj" fmla="val 10390"/>
            </a:avLst>
          </a:prstGeom>
          <a:solidFill>
            <a:srgbClr val="2A5360"/>
          </a:solidFill>
          <a:ln w="10160">
            <a:solidFill>
              <a:srgbClr val="4E71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188436" y="4747434"/>
            <a:ext cx="4090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Render FastAPI  ·  </a:t>
            </a:r>
            <a:r>
              <a:rPr lang="ko-KR" alt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저장결과</a:t>
            </a:r>
            <a:r>
              <a:rPr lang="en-US" altLang="ko-KR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</a:t>
            </a: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DB)</a:t>
            </a:r>
            <a:r>
              <a:rPr lang="en-US" sz="1400" b="1" dirty="0" err="1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조회·JSON</a:t>
            </a: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제공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980176" y="4572000"/>
            <a:ext cx="4718304" cy="704088"/>
          </a:xfrm>
          <a:prstGeom prst="roundRect">
            <a:avLst>
              <a:gd name="adj" fmla="val 10390"/>
            </a:avLst>
          </a:prstGeom>
          <a:solidFill>
            <a:srgbClr val="D8F3E9"/>
          </a:solidFill>
          <a:ln w="10160">
            <a:solidFill>
              <a:srgbClr val="D8F3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172200" y="4738007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D3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Render Static Site  ·  </a:t>
            </a:r>
            <a:r>
              <a:rPr lang="ko-KR" altLang="en-US" sz="1400" b="1" dirty="0">
                <a:solidFill>
                  <a:srgbClr val="102D3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실데이터 대시보드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715000" y="4690872"/>
            <a:ext cx="411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A1D9C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›</a:t>
            </a:r>
            <a:endParaRPr lang="en-US" sz="2500" dirty="0"/>
          </a:p>
        </p:txBody>
      </p:sp>
      <p:sp>
        <p:nvSpPr>
          <p:cNvPr id="43" name="Shape 41"/>
          <p:cNvSpPr/>
          <p:nvPr/>
        </p:nvSpPr>
        <p:spPr>
          <a:xfrm>
            <a:off x="9939528" y="4069080"/>
            <a:ext cx="0" cy="0"/>
          </a:xfrm>
          <a:prstGeom prst="line">
            <a:avLst/>
          </a:prstGeom>
          <a:noFill/>
          <a:ln w="17780">
            <a:solidFill>
              <a:srgbClr val="08947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594360" y="5684139"/>
            <a:ext cx="11018520" cy="832104"/>
          </a:xfrm>
          <a:prstGeom prst="roundRect">
            <a:avLst>
              <a:gd name="adj" fmla="val 19048"/>
            </a:avLst>
          </a:prstGeom>
          <a:solidFill>
            <a:srgbClr val="EDF5F3"/>
          </a:solidFill>
          <a:ln w="10160">
            <a:solidFill>
              <a:srgbClr val="ED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ervice-purpose">
            <a:extLst>
              <a:ext uri="{FF2B5EF4-FFF2-40B4-BE49-F238E27FC236}">
                <a16:creationId xmlns:a16="http://schemas.microsoft.com/office/drawing/2014/main" id="{FCBB6232-8CB2-D01E-9875-1A38588317B7}"/>
              </a:ext>
            </a:extLst>
          </p:cNvPr>
          <p:cNvSpPr>
            <a:spLocks noGrp="1"/>
          </p:cNvSpPr>
          <p:nvPr/>
        </p:nvSpPr>
        <p:spPr>
          <a:xfrm>
            <a:off x="760157" y="5738986"/>
            <a:ext cx="10629900" cy="3276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575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핵심 구현 원칙</a:t>
            </a:r>
            <a:endParaRPr sz="1575" b="1" dirty="0">
              <a:solidFill>
                <a:srgbClr val="183542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8" name="service-purpose">
            <a:extLst>
              <a:ext uri="{FF2B5EF4-FFF2-40B4-BE49-F238E27FC236}">
                <a16:creationId xmlns:a16="http://schemas.microsoft.com/office/drawing/2014/main" id="{BDE64994-E952-B3B8-951D-D3DC3D5747C1}"/>
              </a:ext>
            </a:extLst>
          </p:cNvPr>
          <p:cNvSpPr>
            <a:spLocks noGrp="1"/>
          </p:cNvSpPr>
          <p:nvPr/>
        </p:nvSpPr>
        <p:spPr>
          <a:xfrm>
            <a:off x="760157" y="5911256"/>
            <a:ext cx="10629900" cy="5764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사용자 접속 시 </a:t>
            </a:r>
            <a:r>
              <a:rPr lang="en-US" altLang="ko-KR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FRED </a:t>
            </a: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재호출</a:t>
            </a:r>
            <a:r>
              <a:rPr lang="en-US" altLang="ko-KR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·</a:t>
            </a: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점수 재계산 없음</a:t>
            </a:r>
            <a:r>
              <a:rPr lang="en-US" altLang="ko-KR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(</a:t>
            </a: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저장된 마지막 정상 결과를 </a:t>
            </a:r>
            <a:r>
              <a:rPr lang="en-US" altLang="ko-KR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API</a:t>
            </a: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로 조회</a:t>
            </a:r>
            <a:r>
              <a:rPr lang="en-US" altLang="ko-KR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)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57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종합점수는 </a:t>
            </a:r>
            <a:r>
              <a:rPr lang="en-US" altLang="ko-KR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5</a:t>
            </a: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개 지표 공통 관측일 기준</a:t>
            </a:r>
            <a:r>
              <a:rPr lang="en-US" altLang="ko-KR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, </a:t>
            </a:r>
            <a:r>
              <a:rPr lang="ko-KR" altLang="en-US" sz="1200" b="0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개별 지표 관측일은 서로 다를 수 있음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965BAF47-37BE-1EAC-9F67-257D0C0B5741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 rot="5400000">
            <a:off x="6192774" y="788670"/>
            <a:ext cx="877824" cy="6688836"/>
          </a:xfrm>
          <a:prstGeom prst="bentConnector3">
            <a:avLst>
              <a:gd name="adj1" fmla="val 33892"/>
            </a:avLst>
          </a:prstGeom>
          <a:ln>
            <a:solidFill>
              <a:srgbClr val="0894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 /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39912" y="2560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KAIST · CLOUD COMPUTING LAB · TEAM 7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5개 FRED 지표로 금융시장 위험 포착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76072" y="1225296"/>
            <a:ext cx="10789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제공기관: Federal Reserve Bank of St. Louis (FRED)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11091672" cy="0"/>
          </a:xfrm>
          <a:prstGeom prst="line">
            <a:avLst/>
          </a:prstGeom>
          <a:noFill/>
          <a:ln w="12700">
            <a:solidFill>
              <a:srgbClr val="DF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Text 39"/>
          <p:cNvSpPr/>
          <p:nvPr/>
        </p:nvSpPr>
        <p:spPr>
          <a:xfrm>
            <a:off x="603787" y="4989053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품질·재현성 처리</a:t>
            </a:r>
            <a:endParaRPr lang="en-US" sz="1320" dirty="0"/>
          </a:p>
        </p:txBody>
      </p:sp>
      <p:sp>
        <p:nvSpPr>
          <p:cNvPr id="42" name="Shape 40"/>
          <p:cNvSpPr/>
          <p:nvPr/>
        </p:nvSpPr>
        <p:spPr>
          <a:xfrm>
            <a:off x="639231" y="5307291"/>
            <a:ext cx="2057400" cy="832952"/>
          </a:xfrm>
          <a:prstGeom prst="roundRect">
            <a:avLst>
              <a:gd name="adj" fmla="val 19048"/>
            </a:avLst>
          </a:prstGeom>
          <a:solidFill>
            <a:srgbClr val="E8F5EE"/>
          </a:solidFill>
          <a:ln w="10160">
            <a:solidFill>
              <a:srgbClr val="E8F5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3" name="Text 41"/>
          <p:cNvSpPr/>
          <p:nvPr/>
        </p:nvSpPr>
        <p:spPr>
          <a:xfrm>
            <a:off x="768096" y="5499413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97280" y="5679369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일별 API 수집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61223" y="5307291"/>
            <a:ext cx="2057400" cy="832952"/>
          </a:xfrm>
          <a:prstGeom prst="roundRect">
            <a:avLst>
              <a:gd name="adj" fmla="val 19048"/>
            </a:avLst>
          </a:prstGeom>
          <a:solidFill>
            <a:srgbClr val="F0F4F5"/>
          </a:solidFill>
          <a:ln w="10160">
            <a:solidFill>
              <a:srgbClr val="F0F4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6" name="Text 44"/>
          <p:cNvSpPr/>
          <p:nvPr/>
        </p:nvSpPr>
        <p:spPr>
          <a:xfrm>
            <a:off x="2990088" y="5499413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19272" y="5679369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날짜·숫자</a:t>
            </a: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표준화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83215" y="5307291"/>
            <a:ext cx="2057400" cy="832952"/>
          </a:xfrm>
          <a:prstGeom prst="roundRect">
            <a:avLst>
              <a:gd name="adj" fmla="val 19048"/>
            </a:avLst>
          </a:prstGeom>
          <a:solidFill>
            <a:srgbClr val="E8F5EE"/>
          </a:solidFill>
          <a:ln w="10160">
            <a:solidFill>
              <a:srgbClr val="E8F5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9" name="Text 47"/>
          <p:cNvSpPr/>
          <p:nvPr/>
        </p:nvSpPr>
        <p:spPr>
          <a:xfrm>
            <a:off x="5212080" y="5499413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541264" y="5679369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결측</a:t>
            </a:r>
            <a:r>
              <a:rPr lang="ko-KR" alt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치</a:t>
            </a: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NULL </a:t>
            </a:r>
            <a:r>
              <a:rPr lang="ko-KR" alt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처리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05207" y="5307291"/>
            <a:ext cx="2057400" cy="832952"/>
          </a:xfrm>
          <a:prstGeom prst="roundRect">
            <a:avLst>
              <a:gd name="adj" fmla="val 19048"/>
            </a:avLst>
          </a:prstGeom>
          <a:solidFill>
            <a:srgbClr val="F0F4F5"/>
          </a:solidFill>
          <a:ln w="10160">
            <a:solidFill>
              <a:srgbClr val="F0F4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52" name="Text 50"/>
          <p:cNvSpPr/>
          <p:nvPr/>
        </p:nvSpPr>
        <p:spPr>
          <a:xfrm>
            <a:off x="7434072" y="5499413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763256" y="5679369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중복 없는 upsert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527199" y="5307291"/>
            <a:ext cx="2057400" cy="832952"/>
          </a:xfrm>
          <a:prstGeom prst="roundRect">
            <a:avLst>
              <a:gd name="adj" fmla="val 19048"/>
            </a:avLst>
          </a:prstGeom>
          <a:solidFill>
            <a:srgbClr val="E8F5EE"/>
          </a:solidFill>
          <a:ln w="10160">
            <a:solidFill>
              <a:srgbClr val="E8F5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55" name="Text 53"/>
          <p:cNvSpPr/>
          <p:nvPr/>
        </p:nvSpPr>
        <p:spPr>
          <a:xfrm>
            <a:off x="9656064" y="5499413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956673" y="5679369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공통 </a:t>
            </a:r>
            <a:r>
              <a:rPr lang="en-US" sz="12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기준일</a:t>
            </a:r>
            <a:r>
              <a:rPr 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2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기준 산출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39231" y="619631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SOURCE  FRED · fred.stlouisfed.org  |  pipeline/collect.py · db/schema.sql</a:t>
            </a:r>
            <a:endParaRPr lang="en-US" sz="700" dirty="0"/>
          </a:p>
        </p:txBody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FDE47CF4-D732-2464-9FE5-018988A1F0CE}"/>
              </a:ext>
            </a:extLst>
          </p:cNvPr>
          <p:cNvSpPr/>
          <p:nvPr/>
        </p:nvSpPr>
        <p:spPr>
          <a:xfrm>
            <a:off x="603787" y="4547134"/>
            <a:ext cx="6765046" cy="260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800" dirty="0">
                <a:solidFill>
                  <a:srgbClr val="6F8790"/>
                </a:solidFill>
                <a:ea typeface="NanumSquare"/>
                <a:cs typeface="NanumSquare"/>
              </a:rPr>
              <a:t>※ </a:t>
            </a:r>
            <a:r>
              <a:rPr lang="ko-KR" altLang="en-US" sz="800" dirty="0">
                <a:solidFill>
                  <a:srgbClr val="6F8790"/>
                </a:solidFill>
                <a:ea typeface="NanumSquare"/>
                <a:cs typeface="NanumSquare"/>
              </a:rPr>
              <a:t>종합점수 기준일은 </a:t>
            </a:r>
            <a:r>
              <a:rPr lang="en-US" altLang="ko-KR" sz="800" dirty="0">
                <a:solidFill>
                  <a:srgbClr val="6F8790"/>
                </a:solidFill>
                <a:ea typeface="NanumSquare"/>
                <a:cs typeface="NanumSquare"/>
              </a:rPr>
              <a:t>5</a:t>
            </a:r>
            <a:r>
              <a:rPr lang="ko-KR" altLang="en-US" sz="800" dirty="0">
                <a:solidFill>
                  <a:srgbClr val="6F8790"/>
                </a:solidFill>
                <a:ea typeface="NanumSquare"/>
                <a:cs typeface="NanumSquare"/>
              </a:rPr>
              <a:t>개 지표의 공통 관측일 기준 </a:t>
            </a:r>
            <a:r>
              <a:rPr lang="en-US" altLang="ko-KR" sz="800" dirty="0">
                <a:solidFill>
                  <a:srgbClr val="6F8790"/>
                </a:solidFill>
                <a:ea typeface="NanumSquare"/>
                <a:cs typeface="NanumSquare"/>
              </a:rPr>
              <a:t>· </a:t>
            </a:r>
            <a:r>
              <a:rPr lang="ko-KR" altLang="en-US" sz="800" dirty="0">
                <a:solidFill>
                  <a:srgbClr val="6F8790"/>
                </a:solidFill>
                <a:ea typeface="NanumSquare"/>
                <a:cs typeface="NanumSquare"/>
              </a:rPr>
              <a:t>개별 지표 최신 관측일은 지표별로 다를 수 있음</a:t>
            </a:r>
            <a:endParaRPr lang="en-US" sz="1320" dirty="0"/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AA1B3C8F-FD38-B97F-FA33-171E822A9D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0642569"/>
              </p:ext>
            </p:extLst>
          </p:nvPr>
        </p:nvGraphicFramePr>
        <p:xfrm>
          <a:off x="571499" y="1770625"/>
          <a:ext cx="11219448" cy="2728220"/>
        </p:xfrm>
        <a:graphic>
          <a:graphicData uri="http://schemas.openxmlformats.org/drawingml/2006/table">
            <a:tbl>
              <a:tblPr/>
              <a:tblGrid>
                <a:gridCol w="1945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6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6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0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+mj-lt"/>
                          <a:ea typeface="NanumSquare"/>
                          <a:cs typeface="NanumSquare"/>
                        </a:rPr>
                        <a:t>지표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+mj-lt"/>
                          <a:ea typeface="NanumSquare"/>
                          <a:cs typeface="NanumSquare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+mj-lt"/>
                          <a:ea typeface="NanumSquare"/>
                          <a:cs typeface="NanumSquare"/>
                        </a:rPr>
                        <a:t>시장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+mj-lt"/>
                          <a:ea typeface="NanumSquare"/>
                          <a:cs typeface="NanumSquare"/>
                        </a:rPr>
                        <a:t>)</a:t>
                      </a:r>
                      <a:endParaRPr sz="1200" b="1" dirty="0">
                        <a:solidFill>
                          <a:srgbClr val="FFFFFF"/>
                        </a:solidFill>
                        <a:latin typeface="+mj-lt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>
                      <a:solidFill>
                        <a:srgbClr val="DFE8E8"/>
                      </a:solidFill>
                      <a:prstDash val="soli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193C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+mj-lt"/>
                          <a:ea typeface="NanumSquare"/>
                          <a:cs typeface="NanumSquare"/>
                        </a:rPr>
                        <a:t>지표</a:t>
                      </a:r>
                      <a:r>
                        <a:rPr lang="en-US" altLang="ko-KR" sz="1200" b="1" dirty="0">
                          <a:solidFill>
                            <a:srgbClr val="FFFFFF"/>
                          </a:solidFill>
                          <a:latin typeface="+mj-lt"/>
                          <a:ea typeface="NanumSquare"/>
                          <a:cs typeface="NanumSquare"/>
                        </a:rPr>
                        <a:t>/FRED </a:t>
                      </a: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+mj-lt"/>
                          <a:ea typeface="NanumSquare"/>
                          <a:cs typeface="NanumSquare"/>
                        </a:rPr>
                        <a:t>코드</a:t>
                      </a:r>
                      <a:endParaRPr sz="1200" b="1" dirty="0">
                        <a:solidFill>
                          <a:srgbClr val="FFFFFF"/>
                        </a:solidFill>
                        <a:latin typeface="+mj-lt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>
                      <a:solidFill>
                        <a:srgbClr val="DFE8E8"/>
                      </a:solidFill>
                      <a:prstDash val="soli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193C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+mj-lt"/>
                          <a:ea typeface="NanumSquare"/>
                          <a:cs typeface="NanumSquare"/>
                        </a:rPr>
                        <a:t>스트레스 지표로의 변환</a:t>
                      </a:r>
                      <a:endParaRPr sz="1200" b="1" dirty="0">
                        <a:solidFill>
                          <a:srgbClr val="FFFFFF"/>
                        </a:solidFill>
                        <a:latin typeface="+mj-lt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>
                      <a:solidFill>
                        <a:srgbClr val="DFE8E8"/>
                      </a:solidFill>
                      <a:prstDash val="soli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193C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5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err="1">
                          <a:solidFill>
                            <a:srgbClr val="183542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주식</a:t>
                      </a:r>
                      <a:endParaRPr lang="en-US" altLang="ko-KR" sz="1200" b="1" dirty="0">
                        <a:solidFill>
                          <a:srgbClr val="183542"/>
                        </a:solidFill>
                        <a:latin typeface="+mj-lt"/>
                        <a:ea typeface="NanumSquare" pitchFamily="34" charset="-122"/>
                        <a:cs typeface="NanumSquare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183542"/>
                          </a:solidFill>
                          <a:latin typeface="+mj-lt"/>
                          <a:ea typeface="NanumSquare" pitchFamily="34" charset="-122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83542"/>
                          </a:solidFill>
                          <a:latin typeface="+mj-lt"/>
                          <a:ea typeface="NanumSquare" pitchFamily="34" charset="-122"/>
                        </a:rPr>
                        <a:t>시장 가격</a:t>
                      </a:r>
                      <a:r>
                        <a:rPr lang="en-US" altLang="ko-KR" sz="1200" b="1" dirty="0">
                          <a:solidFill>
                            <a:srgbClr val="183542"/>
                          </a:solidFill>
                          <a:latin typeface="+mj-lt"/>
                          <a:ea typeface="NanumSquare" pitchFamily="34" charset="-122"/>
                        </a:rPr>
                        <a:t>)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S&amp;P500  /  SP500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최근 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252</a:t>
                      </a:r>
                      <a:r>
                        <a:rPr lang="ko-KR" altLang="en-US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개 관측치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약 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년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의 최고치 대비 </a:t>
                      </a:r>
                      <a:r>
                        <a:rPr lang="ko-KR" altLang="en-US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하락률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b="1" dirty="0" err="1">
                          <a:solidFill>
                            <a:srgbClr val="183542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주식</a:t>
                      </a:r>
                      <a:endParaRPr lang="en-US" altLang="ko-KR" sz="1200" b="1" dirty="0">
                        <a:solidFill>
                          <a:srgbClr val="183542"/>
                        </a:solidFill>
                        <a:latin typeface="+mj-lt"/>
                        <a:ea typeface="NanumSquare" pitchFamily="34" charset="-122"/>
                        <a:cs typeface="NanumSquare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183542"/>
                          </a:solidFill>
                          <a:latin typeface="+mj-lt"/>
                          <a:ea typeface="NanumSquare" pitchFamily="34" charset="-122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83542"/>
                          </a:solidFill>
                          <a:latin typeface="+mj-lt"/>
                          <a:ea typeface="NanumSquare" pitchFamily="34" charset="-122"/>
                        </a:rPr>
                        <a:t>시장 기대 변동성</a:t>
                      </a:r>
                      <a:r>
                        <a:rPr lang="en-US" altLang="ko-KR" sz="1200" b="1" dirty="0">
                          <a:solidFill>
                            <a:srgbClr val="183542"/>
                          </a:solidFill>
                          <a:latin typeface="+mj-lt"/>
                          <a:ea typeface="NanumSquare" pitchFamily="34" charset="-122"/>
                        </a:rPr>
                        <a:t>)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VIX  /  VIXCLS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현재 지수 수준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높을수록 스트레스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)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0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183542"/>
                          </a:solidFill>
                          <a:latin typeface="+mj-lt"/>
                          <a:ea typeface="NanumSquare"/>
                          <a:cs typeface="NanumSquare"/>
                        </a:rPr>
                        <a:t>외환</a:t>
                      </a:r>
                      <a:endParaRPr lang="ko-KR" altLang="en-US" sz="1200" b="1" dirty="0">
                        <a:solidFill>
                          <a:srgbClr val="183542"/>
                        </a:solidFill>
                        <a:latin typeface="+mj-lt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>
                      <a:solidFill>
                        <a:srgbClr val="DFE8E8"/>
                      </a:solidFill>
                      <a:prstDash val="soli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원/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달러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환율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  /  DEXKOUS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21개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관측치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 전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대비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상승률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>
                      <a:solidFill>
                        <a:srgbClr val="DFE8E8"/>
                      </a:solidFill>
                      <a:prstDash val="soli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0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183542"/>
                          </a:solidFill>
                          <a:latin typeface="+mj-lt"/>
                          <a:ea typeface="NanumSquare"/>
                          <a:cs typeface="NanumSquare"/>
                        </a:rPr>
                        <a:t>금리</a:t>
                      </a:r>
                      <a:endParaRPr lang="ko-KR" altLang="en-US" sz="1200" b="1" dirty="0">
                        <a:solidFill>
                          <a:srgbClr val="183542"/>
                        </a:solidFill>
                        <a:latin typeface="+mj-lt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미국 10년물  /  DGS10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21개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관측치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 전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대비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절대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변화</a:t>
                      </a:r>
                      <a:r>
                        <a:rPr lang="ko-KR" altLang="en-US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폭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50934"/>
                  </a:ext>
                </a:extLst>
              </a:tr>
              <a:tr h="3720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183542"/>
                          </a:solidFill>
                          <a:latin typeface="+mj-lt"/>
                          <a:ea typeface="NanumSquare"/>
                          <a:cs typeface="NanumSquare"/>
                        </a:rPr>
                        <a:t>신용</a:t>
                      </a:r>
                      <a:endParaRPr lang="ko-KR" altLang="en-US" sz="1200" b="1" dirty="0">
                        <a:solidFill>
                          <a:srgbClr val="183542"/>
                        </a:solidFill>
                        <a:latin typeface="+mj-lt"/>
                        <a:ea typeface="NanumSquare"/>
                        <a:cs typeface="NanumSquare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Baa 회사채–10년물  /  BAA10Y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현재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신용스프레드</a:t>
                      </a:r>
                      <a:r>
                        <a:rPr lang="en-US" altLang="ko-KR" sz="1200" dirty="0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rgbClr val="34505B"/>
                          </a:solidFill>
                          <a:latin typeface="+mj-lt"/>
                          <a:ea typeface="NanumSquare" pitchFamily="34" charset="-122"/>
                          <a:cs typeface="NanumSquare" pitchFamily="34" charset="-120"/>
                        </a:rPr>
                        <a:t>수준</a:t>
                      </a:r>
                      <a:endParaRPr lang="en-US" altLang="ko-KR" sz="1200" dirty="0">
                        <a:latin typeface="+mj-lt"/>
                      </a:endParaRPr>
                    </a:p>
                  </a:txBody>
                  <a:tcPr anchor="ctr">
                    <a:lnL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573" cap="flat" cmpd="sng" algn="ctr">
                      <a:solidFill>
                        <a:srgbClr val="DF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573">
                      <a:solidFill>
                        <a:srgbClr val="DFE8E8"/>
                      </a:solidFill>
                      <a:prstDash val="solid"/>
                    </a:lnB>
                    <a:solidFill>
                      <a:srgbClr val="F5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74829"/>
                  </a:ext>
                </a:extLst>
              </a:tr>
            </a:tbl>
          </a:graphicData>
        </a:graphic>
      </p:graphicFrame>
      <p:sp>
        <p:nvSpPr>
          <p:cNvPr id="11" name="Text 8">
            <a:extLst>
              <a:ext uri="{FF2B5EF4-FFF2-40B4-BE49-F238E27FC236}">
                <a16:creationId xmlns:a16="http://schemas.microsoft.com/office/drawing/2014/main" id="{08EB17A1-5FD4-C1DC-48CE-C0A34D601DD9}"/>
              </a:ext>
            </a:extLst>
          </p:cNvPr>
          <p:cNvSpPr/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/ 10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79620AB5-B4B1-1F20-24F7-FD1915ED09A6}"/>
              </a:ext>
            </a:extLst>
          </p:cNvPr>
          <p:cNvSpPr>
            <a:spLocks noGrp="1"/>
          </p:cNvSpPr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900" b="1" spc="200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05 / SCORING</a:t>
            </a:r>
            <a:endParaRPr sz="900" dirty="0"/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A52AD201-9B72-7811-AC74-F2C4D35BEE37}"/>
              </a:ext>
            </a:extLst>
          </p:cNvPr>
          <p:cNvSpPr>
            <a:spLocks noGrp="1"/>
          </p:cNvSpPr>
          <p:nvPr/>
        </p:nvSpPr>
        <p:spPr>
          <a:xfrm>
            <a:off x="8439912" y="256032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r">
              <a:buNone/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690" b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KAIST · CLOUD COMPUTING LAB · TEAM 7</a:t>
            </a:r>
            <a:endParaRPr sz="83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31A01640-377E-B1A1-E2D0-BABF78929520}"/>
              </a:ext>
            </a:extLst>
          </p:cNvPr>
          <p:cNvSpPr>
            <a:spLocks noGrp="1"/>
          </p:cNvSpPr>
          <p:nvPr/>
        </p:nvSpPr>
        <p:spPr>
          <a:xfrm>
            <a:off x="566928" y="6629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23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지표</a:t>
            </a:r>
            <a:r>
              <a:rPr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백분위로</a:t>
            </a:r>
            <a:r>
              <a:rPr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금융시장</a:t>
            </a:r>
            <a:r>
              <a:rPr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스트레스</a:t>
            </a:r>
            <a:r>
              <a:rPr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점수</a:t>
            </a:r>
            <a:r>
              <a:rPr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산출</a:t>
            </a:r>
            <a:endParaRPr sz="2700" dirty="0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AF8BD075-F023-8432-7E0F-6508B9B53153}"/>
              </a:ext>
            </a:extLst>
          </p:cNvPr>
          <p:cNvSpPr>
            <a:spLocks noGrp="1"/>
          </p:cNvSpPr>
          <p:nvPr/>
        </p:nvSpPr>
        <p:spPr>
          <a:xfrm>
            <a:off x="576072" y="1207008"/>
            <a:ext cx="10789920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0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035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스트레스</a:t>
            </a:r>
            <a:r>
              <a:rPr sz="1035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35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변환</a:t>
            </a:r>
            <a:r>
              <a:rPr sz="1035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 →  </a:t>
            </a:r>
            <a:r>
              <a:rPr sz="1035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백분위</a:t>
            </a:r>
            <a:r>
              <a:rPr sz="1035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(2~10년)  →  </a:t>
            </a:r>
            <a:r>
              <a:rPr sz="1035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시장별</a:t>
            </a:r>
            <a:r>
              <a:rPr sz="1035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35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집계</a:t>
            </a:r>
            <a:r>
              <a:rPr sz="1035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 →  </a:t>
            </a:r>
            <a:r>
              <a:rPr sz="1035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위험단계</a:t>
            </a:r>
            <a:r>
              <a:rPr sz="1035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35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판정</a:t>
            </a:r>
            <a:endParaRPr sz="1120" dirty="0"/>
          </a:p>
        </p:txBody>
      </p:sp>
      <p:sp>
        <p:nvSpPr>
          <p:cNvPr id="58" name="Shape 6">
            <a:extLst>
              <a:ext uri="{FF2B5EF4-FFF2-40B4-BE49-F238E27FC236}">
                <a16:creationId xmlns:a16="http://schemas.microsoft.com/office/drawing/2014/main" id="{B2217456-CE7D-DA6A-76FC-B7A1E9051BAD}"/>
              </a:ext>
            </a:extLst>
          </p:cNvPr>
          <p:cNvSpPr>
            <a:spLocks noGrp="1"/>
          </p:cNvSpPr>
          <p:nvPr/>
        </p:nvSpPr>
        <p:spPr>
          <a:xfrm>
            <a:off x="566928" y="1581912"/>
            <a:ext cx="11091672" cy="0"/>
          </a:xfrm>
          <a:prstGeom prst="line">
            <a:avLst/>
          </a:prstGeom>
          <a:noFill/>
          <a:ln w="12700">
            <a:solidFill>
              <a:srgbClr val="DF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6ABA05CD-C9E6-9389-3203-7F1C4B741627}"/>
              </a:ext>
            </a:extLst>
          </p:cNvPr>
          <p:cNvSpPr>
            <a:spLocks noGrp="1"/>
          </p:cNvSpPr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r">
              <a:buNone/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87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0</a:t>
            </a:r>
            <a:r>
              <a:rPr lang="en-US" sz="87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6</a:t>
            </a:r>
            <a:r>
              <a:rPr sz="87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 / 10</a:t>
            </a:r>
            <a:endParaRPr sz="870" dirty="0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F5D62258-CFA2-C91B-373B-334E494D7207}"/>
              </a:ext>
            </a:extLst>
          </p:cNvPr>
          <p:cNvSpPr>
            <a:spLocks noGrp="1"/>
          </p:cNvSpPr>
          <p:nvPr/>
        </p:nvSpPr>
        <p:spPr>
          <a:xfrm>
            <a:off x="571500" y="2696338"/>
            <a:ext cx="6267450" cy="1418462"/>
          </a:xfrm>
          <a:prstGeom prst="roundRect">
            <a:avLst>
              <a:gd name="adj" fmla="val 4717"/>
            </a:avLst>
          </a:prstGeom>
          <a:solidFill>
            <a:srgbClr val="102D3A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52A77ED4-6343-4FBB-FB82-A547F32A9B4C}"/>
              </a:ext>
            </a:extLst>
          </p:cNvPr>
          <p:cNvSpPr>
            <a:spLocks noGrp="1"/>
          </p:cNvSpPr>
          <p:nvPr/>
        </p:nvSpPr>
        <p:spPr>
          <a:xfrm>
            <a:off x="828675" y="2821930"/>
            <a:ext cx="28575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65" b="1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pPr>
            <a:r>
              <a:rPr sz="1300" b="1" spc="100" dirty="0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INDICATOR SCORE</a:t>
            </a:r>
            <a:endParaRPr sz="1300" dirty="0"/>
          </a:p>
        </p:txBody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BBB12DC9-0860-FD45-BACE-4EC4F2671FF9}"/>
              </a:ext>
            </a:extLst>
          </p:cNvPr>
          <p:cNvSpPr>
            <a:spLocks noGrp="1"/>
          </p:cNvSpPr>
          <p:nvPr/>
        </p:nvSpPr>
        <p:spPr>
          <a:xfrm>
            <a:off x="828675" y="3019425"/>
            <a:ext cx="5715000" cy="43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 dirty="0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Sᵢ = 25 × max ( 0, ( Pᵢ − 50 ) / 50 )</a:t>
            </a:r>
            <a:endParaRPr sz="2200" dirty="0"/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CF8206DA-070F-8AEE-2F4B-6EC1158D1601}"/>
              </a:ext>
            </a:extLst>
          </p:cNvPr>
          <p:cNvSpPr>
            <a:spLocks noGrp="1"/>
          </p:cNvSpPr>
          <p:nvPr/>
        </p:nvSpPr>
        <p:spPr>
          <a:xfrm>
            <a:off x="828675" y="3473202"/>
            <a:ext cx="57150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863">
                <a:solidFill>
                  <a:srgbClr val="D8E6E6"/>
                </a:solidFill>
                <a:latin typeface="NanumSquare"/>
                <a:ea typeface="NanumSquare"/>
                <a:cs typeface="NanumSquare"/>
              </a:defRPr>
            </a:pPr>
            <a:r>
              <a:rPr sz="1000" dirty="0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Pᵢ : </a:t>
            </a:r>
            <a:r>
              <a:rPr sz="1000" dirty="0" err="1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평가일</a:t>
            </a:r>
            <a:r>
              <a:rPr sz="1000" dirty="0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기준</a:t>
            </a:r>
            <a:r>
              <a:rPr sz="1000" dirty="0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과거</a:t>
            </a:r>
            <a:r>
              <a:rPr sz="1000" dirty="0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 2~10년 </a:t>
            </a:r>
            <a:r>
              <a:rPr sz="1000" dirty="0" err="1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분포의</a:t>
            </a:r>
            <a:r>
              <a:rPr sz="1000" dirty="0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D8E6E6"/>
                </a:solidFill>
                <a:latin typeface="NanumSquare"/>
                <a:ea typeface="NanumSquare"/>
                <a:cs typeface="NanumSquare"/>
              </a:rPr>
              <a:t>백분위</a:t>
            </a:r>
            <a:endParaRPr sz="100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B50DD93F-006C-2DC5-F955-BFAAD6C02A91}"/>
              </a:ext>
            </a:extLst>
          </p:cNvPr>
          <p:cNvSpPr>
            <a:spLocks noGrp="1"/>
          </p:cNvSpPr>
          <p:nvPr/>
        </p:nvSpPr>
        <p:spPr>
          <a:xfrm>
            <a:off x="7067550" y="2696338"/>
            <a:ext cx="4552950" cy="1418462"/>
          </a:xfrm>
          <a:prstGeom prst="roundRect">
            <a:avLst>
              <a:gd name="adj" fmla="val 4717"/>
            </a:avLst>
          </a:prstGeom>
          <a:solidFill>
            <a:srgbClr val="EFF7F4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BF9F169E-2016-316B-F72D-3BC63DD49CD6}"/>
              </a:ext>
            </a:extLst>
          </p:cNvPr>
          <p:cNvSpPr>
            <a:spLocks noGrp="1"/>
          </p:cNvSpPr>
          <p:nvPr/>
        </p:nvSpPr>
        <p:spPr>
          <a:xfrm>
            <a:off x="7343775" y="2821930"/>
            <a:ext cx="314325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300" b="1" spc="10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PERCENTILE → SCORE</a:t>
            </a:r>
            <a:endParaRPr sz="1300"/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05968FF8-3E24-43B2-0095-84BA299EC307}"/>
              </a:ext>
            </a:extLst>
          </p:cNvPr>
          <p:cNvSpPr>
            <a:spLocks noGrp="1"/>
          </p:cNvSpPr>
          <p:nvPr/>
        </p:nvSpPr>
        <p:spPr>
          <a:xfrm>
            <a:off x="7324725" y="3092467"/>
            <a:ext cx="914400" cy="660383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BB143C8C-1E2F-10EA-CD88-AD57C40E329F}"/>
              </a:ext>
            </a:extLst>
          </p:cNvPr>
          <p:cNvSpPr>
            <a:spLocks noGrp="1"/>
          </p:cNvSpPr>
          <p:nvPr/>
        </p:nvSpPr>
        <p:spPr>
          <a:xfrm>
            <a:off x="7362825" y="3225817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/>
          </a:bodyPr>
          <a:lstStyle>
            <a:def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50</a:t>
            </a:r>
            <a:r>
              <a:rPr lang="en-US"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lang="ko-KR" altLang="en-US" sz="1100" dirty="0"/>
              <a:t>백분위 이하</a:t>
            </a:r>
            <a:endParaRPr sz="1100" dirty="0"/>
          </a:p>
        </p:txBody>
      </p:sp>
      <p:sp>
        <p:nvSpPr>
          <p:cNvPr id="78" name="Text 18">
            <a:extLst>
              <a:ext uri="{FF2B5EF4-FFF2-40B4-BE49-F238E27FC236}">
                <a16:creationId xmlns:a16="http://schemas.microsoft.com/office/drawing/2014/main" id="{680E8CB4-5DBD-89A2-49B2-C3BE805B059B}"/>
              </a:ext>
            </a:extLst>
          </p:cNvPr>
          <p:cNvSpPr>
            <a:spLocks noGrp="1"/>
          </p:cNvSpPr>
          <p:nvPr/>
        </p:nvSpPr>
        <p:spPr>
          <a:xfrm>
            <a:off x="7353300" y="3409950"/>
            <a:ext cx="857250" cy="2000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65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00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0점 · </a:t>
            </a:r>
            <a:r>
              <a:rPr sz="1000" b="1" dirty="0" err="1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평소</a:t>
            </a:r>
            <a:endParaRPr sz="1000" dirty="0"/>
          </a:p>
        </p:txBody>
      </p:sp>
      <p:sp>
        <p:nvSpPr>
          <p:cNvPr id="80" name="Shape 19">
            <a:extLst>
              <a:ext uri="{FF2B5EF4-FFF2-40B4-BE49-F238E27FC236}">
                <a16:creationId xmlns:a16="http://schemas.microsoft.com/office/drawing/2014/main" id="{BB0CE624-42EA-FDA6-BCB7-3B5C0157FE94}"/>
              </a:ext>
            </a:extLst>
          </p:cNvPr>
          <p:cNvSpPr>
            <a:spLocks noGrp="1"/>
          </p:cNvSpPr>
          <p:nvPr/>
        </p:nvSpPr>
        <p:spPr>
          <a:xfrm>
            <a:off x="8305800" y="3092467"/>
            <a:ext cx="914400" cy="660383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82" name="Text 20">
            <a:extLst>
              <a:ext uri="{FF2B5EF4-FFF2-40B4-BE49-F238E27FC236}">
                <a16:creationId xmlns:a16="http://schemas.microsoft.com/office/drawing/2014/main" id="{54455873-6A48-75A5-2EBD-83655C6EDC34}"/>
              </a:ext>
            </a:extLst>
          </p:cNvPr>
          <p:cNvSpPr>
            <a:spLocks noGrp="1"/>
          </p:cNvSpPr>
          <p:nvPr/>
        </p:nvSpPr>
        <p:spPr>
          <a:xfrm>
            <a:off x="8343900" y="3225817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75</a:t>
            </a:r>
            <a:r>
              <a:rPr lang="en-US"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lang="ko-KR" altLang="en-US"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백분위</a:t>
            </a:r>
            <a:endParaRPr sz="1100" dirty="0"/>
          </a:p>
        </p:txBody>
      </p:sp>
      <p:sp>
        <p:nvSpPr>
          <p:cNvPr id="84" name="Text 21">
            <a:extLst>
              <a:ext uri="{FF2B5EF4-FFF2-40B4-BE49-F238E27FC236}">
                <a16:creationId xmlns:a16="http://schemas.microsoft.com/office/drawing/2014/main" id="{641C873E-6899-FBCC-34AA-34D689980195}"/>
              </a:ext>
            </a:extLst>
          </p:cNvPr>
          <p:cNvSpPr>
            <a:spLocks noGrp="1"/>
          </p:cNvSpPr>
          <p:nvPr/>
        </p:nvSpPr>
        <p:spPr>
          <a:xfrm>
            <a:off x="8334375" y="3409950"/>
            <a:ext cx="857250" cy="2000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000" b="1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12.5점</a:t>
            </a:r>
            <a:endParaRPr sz="1000"/>
          </a:p>
        </p:txBody>
      </p:sp>
      <p:sp>
        <p:nvSpPr>
          <p:cNvPr id="86" name="Shape 22">
            <a:extLst>
              <a:ext uri="{FF2B5EF4-FFF2-40B4-BE49-F238E27FC236}">
                <a16:creationId xmlns:a16="http://schemas.microsoft.com/office/drawing/2014/main" id="{D8A00DBB-3ACA-BD68-D9E4-69CC8BBF44C5}"/>
              </a:ext>
            </a:extLst>
          </p:cNvPr>
          <p:cNvSpPr>
            <a:spLocks noGrp="1"/>
          </p:cNvSpPr>
          <p:nvPr/>
        </p:nvSpPr>
        <p:spPr>
          <a:xfrm>
            <a:off x="9286875" y="3092467"/>
            <a:ext cx="914400" cy="660383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88" name="Text 23">
            <a:extLst>
              <a:ext uri="{FF2B5EF4-FFF2-40B4-BE49-F238E27FC236}">
                <a16:creationId xmlns:a16="http://schemas.microsoft.com/office/drawing/2014/main" id="{16B19B1B-F583-06D3-F925-9D1FC2CE18F9}"/>
              </a:ext>
            </a:extLst>
          </p:cNvPr>
          <p:cNvSpPr>
            <a:spLocks noGrp="1"/>
          </p:cNvSpPr>
          <p:nvPr/>
        </p:nvSpPr>
        <p:spPr>
          <a:xfrm>
            <a:off x="9324975" y="3225817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90</a:t>
            </a:r>
            <a:r>
              <a:rPr lang="en-US"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lang="ko-KR" altLang="en-US"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백분위</a:t>
            </a:r>
            <a:endParaRPr sz="1100" dirty="0"/>
          </a:p>
        </p:txBody>
      </p:sp>
      <p:sp>
        <p:nvSpPr>
          <p:cNvPr id="90" name="Text 24">
            <a:extLst>
              <a:ext uri="{FF2B5EF4-FFF2-40B4-BE49-F238E27FC236}">
                <a16:creationId xmlns:a16="http://schemas.microsoft.com/office/drawing/2014/main" id="{60446EF6-7504-3B0F-E5B3-A3FB4F77F3DC}"/>
              </a:ext>
            </a:extLst>
          </p:cNvPr>
          <p:cNvSpPr>
            <a:spLocks noGrp="1"/>
          </p:cNvSpPr>
          <p:nvPr/>
        </p:nvSpPr>
        <p:spPr>
          <a:xfrm>
            <a:off x="9315450" y="3409950"/>
            <a:ext cx="857250" cy="2000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000" b="1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20점</a:t>
            </a:r>
            <a:endParaRPr sz="1000"/>
          </a:p>
        </p:txBody>
      </p:sp>
      <p:sp>
        <p:nvSpPr>
          <p:cNvPr id="92" name="Shape 25">
            <a:extLst>
              <a:ext uri="{FF2B5EF4-FFF2-40B4-BE49-F238E27FC236}">
                <a16:creationId xmlns:a16="http://schemas.microsoft.com/office/drawing/2014/main" id="{AD3D29B2-57FD-2C6B-D650-A5C3321DCD6A}"/>
              </a:ext>
            </a:extLst>
          </p:cNvPr>
          <p:cNvSpPr>
            <a:spLocks noGrp="1"/>
          </p:cNvSpPr>
          <p:nvPr/>
        </p:nvSpPr>
        <p:spPr>
          <a:xfrm>
            <a:off x="10267950" y="3092467"/>
            <a:ext cx="914400" cy="660383"/>
          </a:xfrm>
          <a:prstGeom prst="roundRect">
            <a:avLst>
              <a:gd name="adj" fmla="val 10390"/>
            </a:avLst>
          </a:prstGeom>
          <a:solidFill>
            <a:srgbClr val="C8EDE0"/>
          </a:solidFill>
          <a:ln w="10160">
            <a:solidFill>
              <a:srgbClr val="C8ED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94" name="Text 26">
            <a:extLst>
              <a:ext uri="{FF2B5EF4-FFF2-40B4-BE49-F238E27FC236}">
                <a16:creationId xmlns:a16="http://schemas.microsoft.com/office/drawing/2014/main" id="{C801C66B-B7A1-0E0F-4B88-E32A8316E931}"/>
              </a:ext>
            </a:extLst>
          </p:cNvPr>
          <p:cNvSpPr>
            <a:spLocks noGrp="1"/>
          </p:cNvSpPr>
          <p:nvPr/>
        </p:nvSpPr>
        <p:spPr>
          <a:xfrm>
            <a:off x="10306050" y="3225817"/>
            <a:ext cx="8382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105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100</a:t>
            </a:r>
            <a:r>
              <a:rPr lang="en-US"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lang="ko-KR" altLang="en-US" sz="11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백분위</a:t>
            </a:r>
            <a:endParaRPr sz="1100" dirty="0"/>
          </a:p>
        </p:txBody>
      </p:sp>
      <p:sp>
        <p:nvSpPr>
          <p:cNvPr id="96" name="Text 27">
            <a:extLst>
              <a:ext uri="{FF2B5EF4-FFF2-40B4-BE49-F238E27FC236}">
                <a16:creationId xmlns:a16="http://schemas.microsoft.com/office/drawing/2014/main" id="{C7EED563-9830-F1C1-F931-4CFEEE94463C}"/>
              </a:ext>
            </a:extLst>
          </p:cNvPr>
          <p:cNvSpPr>
            <a:spLocks noGrp="1"/>
          </p:cNvSpPr>
          <p:nvPr/>
        </p:nvSpPr>
        <p:spPr>
          <a:xfrm>
            <a:off x="10296525" y="3409950"/>
            <a:ext cx="857250" cy="20002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000" b="1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25점</a:t>
            </a:r>
            <a:endParaRPr sz="1000"/>
          </a:p>
        </p:txBody>
      </p:sp>
      <p:sp>
        <p:nvSpPr>
          <p:cNvPr id="98" name="Text 28">
            <a:extLst>
              <a:ext uri="{FF2B5EF4-FFF2-40B4-BE49-F238E27FC236}">
                <a16:creationId xmlns:a16="http://schemas.microsoft.com/office/drawing/2014/main" id="{BA3AB23A-220C-779C-EF14-18BFC8A9C728}"/>
              </a:ext>
            </a:extLst>
          </p:cNvPr>
          <p:cNvSpPr>
            <a:spLocks noGrp="1"/>
          </p:cNvSpPr>
          <p:nvPr/>
        </p:nvSpPr>
        <p:spPr>
          <a:xfrm>
            <a:off x="657225" y="4286250"/>
            <a:ext cx="2476500" cy="247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시장별 점수 구성</a:t>
            </a:r>
            <a:endParaRPr sz="1500"/>
          </a:p>
        </p:txBody>
      </p:sp>
      <p:sp>
        <p:nvSpPr>
          <p:cNvPr id="100" name="Shape 29">
            <a:extLst>
              <a:ext uri="{FF2B5EF4-FFF2-40B4-BE49-F238E27FC236}">
                <a16:creationId xmlns:a16="http://schemas.microsoft.com/office/drawing/2014/main" id="{CBD4BDFC-2E6B-DA13-069C-4A75CC05F2A8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2571750" cy="762000"/>
          </a:xfrm>
          <a:prstGeom prst="roundRect">
            <a:avLst>
              <a:gd name="adj" fmla="val 7843"/>
            </a:avLst>
          </a:prstGeom>
          <a:solidFill>
            <a:srgbClr val="F5F8F8"/>
          </a:solidFill>
          <a:ln w="10160">
            <a:solidFill>
              <a:srgbClr val="F5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30">
            <a:extLst>
              <a:ext uri="{FF2B5EF4-FFF2-40B4-BE49-F238E27FC236}">
                <a16:creationId xmlns:a16="http://schemas.microsoft.com/office/drawing/2014/main" id="{005C1132-8D2D-34E2-6E2C-7AA37BA7E084}"/>
              </a:ext>
            </a:extLst>
          </p:cNvPr>
          <p:cNvSpPr>
            <a:spLocks noGrp="1"/>
          </p:cNvSpPr>
          <p:nvPr/>
        </p:nvSpPr>
        <p:spPr>
          <a:xfrm>
            <a:off x="666750" y="4572000"/>
            <a:ext cx="59436" cy="762000"/>
          </a:xfrm>
          <a:prstGeom prst="rect">
            <a:avLst/>
          </a:prstGeom>
          <a:solidFill>
            <a:srgbClr val="287CC8"/>
          </a:solidFill>
          <a:ln w="10160">
            <a:solidFill>
              <a:srgbClr val="287C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31">
            <a:extLst>
              <a:ext uri="{FF2B5EF4-FFF2-40B4-BE49-F238E27FC236}">
                <a16:creationId xmlns:a16="http://schemas.microsoft.com/office/drawing/2014/main" id="{A0E10B3F-C6C6-99B8-0123-636E5378331C}"/>
              </a:ext>
            </a:extLst>
          </p:cNvPr>
          <p:cNvSpPr>
            <a:spLocks noGrp="1"/>
          </p:cNvSpPr>
          <p:nvPr/>
        </p:nvSpPr>
        <p:spPr>
          <a:xfrm>
            <a:off x="800100" y="4657725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주식</a:t>
            </a:r>
            <a:endParaRPr sz="1200" dirty="0"/>
          </a:p>
        </p:txBody>
      </p:sp>
      <p:sp>
        <p:nvSpPr>
          <p:cNvPr id="106" name="Text 32">
            <a:extLst>
              <a:ext uri="{FF2B5EF4-FFF2-40B4-BE49-F238E27FC236}">
                <a16:creationId xmlns:a16="http://schemas.microsoft.com/office/drawing/2014/main" id="{65D9E381-DBAB-4A28-B6EA-9948F1207A47}"/>
              </a:ext>
            </a:extLst>
          </p:cNvPr>
          <p:cNvSpPr>
            <a:spLocks noGrp="1"/>
          </p:cNvSpPr>
          <p:nvPr/>
        </p:nvSpPr>
        <p:spPr>
          <a:xfrm>
            <a:off x="800100" y="4945053"/>
            <a:ext cx="23241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(S&amp;P500 </a:t>
            </a:r>
            <a:r>
              <a:rPr sz="11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점수</a:t>
            </a:r>
            <a:r>
              <a:rPr sz="11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+ VIX </a:t>
            </a:r>
            <a:r>
              <a:rPr sz="11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점수</a:t>
            </a:r>
            <a:r>
              <a:rPr sz="11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) / 2</a:t>
            </a:r>
            <a:endParaRPr sz="1100" dirty="0"/>
          </a:p>
        </p:txBody>
      </p:sp>
      <p:sp>
        <p:nvSpPr>
          <p:cNvPr id="108" name="Shape 33">
            <a:extLst>
              <a:ext uri="{FF2B5EF4-FFF2-40B4-BE49-F238E27FC236}">
                <a16:creationId xmlns:a16="http://schemas.microsoft.com/office/drawing/2014/main" id="{101B0083-EDF3-48ED-2933-02254863CC91}"/>
              </a:ext>
            </a:extLst>
          </p:cNvPr>
          <p:cNvSpPr>
            <a:spLocks noGrp="1"/>
          </p:cNvSpPr>
          <p:nvPr/>
        </p:nvSpPr>
        <p:spPr>
          <a:xfrm>
            <a:off x="3429000" y="4572000"/>
            <a:ext cx="2571750" cy="762000"/>
          </a:xfrm>
          <a:prstGeom prst="roundRect">
            <a:avLst>
              <a:gd name="adj" fmla="val 7843"/>
            </a:avLst>
          </a:prstGeom>
          <a:solidFill>
            <a:srgbClr val="F5F8F8"/>
          </a:solidFill>
          <a:ln w="10160">
            <a:solidFill>
              <a:srgbClr val="F5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34">
            <a:extLst>
              <a:ext uri="{FF2B5EF4-FFF2-40B4-BE49-F238E27FC236}">
                <a16:creationId xmlns:a16="http://schemas.microsoft.com/office/drawing/2014/main" id="{BE86DAF7-98A3-E1AF-552D-6A84EB2950EB}"/>
              </a:ext>
            </a:extLst>
          </p:cNvPr>
          <p:cNvSpPr>
            <a:spLocks noGrp="1"/>
          </p:cNvSpPr>
          <p:nvPr/>
        </p:nvSpPr>
        <p:spPr>
          <a:xfrm>
            <a:off x="3429000" y="4572000"/>
            <a:ext cx="59436" cy="762000"/>
          </a:xfrm>
          <a:prstGeom prst="rect">
            <a:avLst/>
          </a:prstGeom>
          <a:solidFill>
            <a:srgbClr val="EA926B"/>
          </a:solidFill>
          <a:ln w="10160">
            <a:solidFill>
              <a:srgbClr val="EA92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35">
            <a:extLst>
              <a:ext uri="{FF2B5EF4-FFF2-40B4-BE49-F238E27FC236}">
                <a16:creationId xmlns:a16="http://schemas.microsoft.com/office/drawing/2014/main" id="{0100863E-3768-ADB8-EB75-7A996ABC334E}"/>
              </a:ext>
            </a:extLst>
          </p:cNvPr>
          <p:cNvSpPr>
            <a:spLocks noGrp="1"/>
          </p:cNvSpPr>
          <p:nvPr/>
        </p:nvSpPr>
        <p:spPr>
          <a:xfrm>
            <a:off x="3562350" y="4657725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외환</a:t>
            </a:r>
            <a:endParaRPr sz="1200"/>
          </a:p>
        </p:txBody>
      </p:sp>
      <p:sp>
        <p:nvSpPr>
          <p:cNvPr id="114" name="Text 36">
            <a:extLst>
              <a:ext uri="{FF2B5EF4-FFF2-40B4-BE49-F238E27FC236}">
                <a16:creationId xmlns:a16="http://schemas.microsoft.com/office/drawing/2014/main" id="{B337FED5-892C-A9C9-3AC5-D7763F58D330}"/>
              </a:ext>
            </a:extLst>
          </p:cNvPr>
          <p:cNvSpPr>
            <a:spLocks noGrp="1"/>
          </p:cNvSpPr>
          <p:nvPr/>
        </p:nvSpPr>
        <p:spPr>
          <a:xfrm>
            <a:off x="3562350" y="4945053"/>
            <a:ext cx="23241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DEXKOUS 점수</a:t>
            </a:r>
            <a:endParaRPr sz="1100"/>
          </a:p>
        </p:txBody>
      </p:sp>
      <p:sp>
        <p:nvSpPr>
          <p:cNvPr id="116" name="Shape 37">
            <a:extLst>
              <a:ext uri="{FF2B5EF4-FFF2-40B4-BE49-F238E27FC236}">
                <a16:creationId xmlns:a16="http://schemas.microsoft.com/office/drawing/2014/main" id="{170B747D-063E-9722-E0CA-9EBB38AA8FC5}"/>
              </a:ext>
            </a:extLst>
          </p:cNvPr>
          <p:cNvSpPr>
            <a:spLocks noGrp="1"/>
          </p:cNvSpPr>
          <p:nvPr/>
        </p:nvSpPr>
        <p:spPr>
          <a:xfrm>
            <a:off x="6191250" y="4572000"/>
            <a:ext cx="2571750" cy="762000"/>
          </a:xfrm>
          <a:prstGeom prst="roundRect">
            <a:avLst>
              <a:gd name="adj" fmla="val 7843"/>
            </a:avLst>
          </a:prstGeom>
          <a:solidFill>
            <a:srgbClr val="F5F8F8"/>
          </a:solidFill>
          <a:ln w="10160">
            <a:solidFill>
              <a:srgbClr val="F5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38">
            <a:extLst>
              <a:ext uri="{FF2B5EF4-FFF2-40B4-BE49-F238E27FC236}">
                <a16:creationId xmlns:a16="http://schemas.microsoft.com/office/drawing/2014/main" id="{37AB5AA2-0F3F-6514-0EEF-941E611F6215}"/>
              </a:ext>
            </a:extLst>
          </p:cNvPr>
          <p:cNvSpPr>
            <a:spLocks noGrp="1"/>
          </p:cNvSpPr>
          <p:nvPr/>
        </p:nvSpPr>
        <p:spPr>
          <a:xfrm>
            <a:off x="6191250" y="4572000"/>
            <a:ext cx="59436" cy="762000"/>
          </a:xfrm>
          <a:prstGeom prst="rect">
            <a:avLst/>
          </a:prstGeom>
          <a:solidFill>
            <a:srgbClr val="15A575"/>
          </a:solidFill>
          <a:ln w="10160">
            <a:solidFill>
              <a:srgbClr val="15A5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39">
            <a:extLst>
              <a:ext uri="{FF2B5EF4-FFF2-40B4-BE49-F238E27FC236}">
                <a16:creationId xmlns:a16="http://schemas.microsoft.com/office/drawing/2014/main" id="{BEDF948A-9E1B-B6B6-D949-2C8FECBF5304}"/>
              </a:ext>
            </a:extLst>
          </p:cNvPr>
          <p:cNvSpPr>
            <a:spLocks noGrp="1"/>
          </p:cNvSpPr>
          <p:nvPr/>
        </p:nvSpPr>
        <p:spPr>
          <a:xfrm>
            <a:off x="6324600" y="4657725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금리</a:t>
            </a:r>
            <a:endParaRPr sz="1200"/>
          </a:p>
        </p:txBody>
      </p:sp>
      <p:sp>
        <p:nvSpPr>
          <p:cNvPr id="122" name="Text 40">
            <a:extLst>
              <a:ext uri="{FF2B5EF4-FFF2-40B4-BE49-F238E27FC236}">
                <a16:creationId xmlns:a16="http://schemas.microsoft.com/office/drawing/2014/main" id="{789F9421-F326-6C48-D226-7247428255A1}"/>
              </a:ext>
            </a:extLst>
          </p:cNvPr>
          <p:cNvSpPr>
            <a:spLocks noGrp="1"/>
          </p:cNvSpPr>
          <p:nvPr/>
        </p:nvSpPr>
        <p:spPr>
          <a:xfrm>
            <a:off x="6324600" y="4945053"/>
            <a:ext cx="23241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DGS10 점수</a:t>
            </a:r>
            <a:endParaRPr sz="1100"/>
          </a:p>
        </p:txBody>
      </p:sp>
      <p:sp>
        <p:nvSpPr>
          <p:cNvPr id="124" name="Shape 41">
            <a:extLst>
              <a:ext uri="{FF2B5EF4-FFF2-40B4-BE49-F238E27FC236}">
                <a16:creationId xmlns:a16="http://schemas.microsoft.com/office/drawing/2014/main" id="{A0191143-7F86-EABF-56DF-25920DE33EEC}"/>
              </a:ext>
            </a:extLst>
          </p:cNvPr>
          <p:cNvSpPr>
            <a:spLocks noGrp="1"/>
          </p:cNvSpPr>
          <p:nvPr/>
        </p:nvSpPr>
        <p:spPr>
          <a:xfrm>
            <a:off x="8953500" y="4572000"/>
            <a:ext cx="2571750" cy="762000"/>
          </a:xfrm>
          <a:prstGeom prst="roundRect">
            <a:avLst>
              <a:gd name="adj" fmla="val 7843"/>
            </a:avLst>
          </a:prstGeom>
          <a:solidFill>
            <a:srgbClr val="F5F8F8"/>
          </a:solidFill>
          <a:ln w="10160">
            <a:solidFill>
              <a:srgbClr val="F5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42">
            <a:extLst>
              <a:ext uri="{FF2B5EF4-FFF2-40B4-BE49-F238E27FC236}">
                <a16:creationId xmlns:a16="http://schemas.microsoft.com/office/drawing/2014/main" id="{020E6B69-909F-8DFC-CB15-4E2F7009DE1B}"/>
              </a:ext>
            </a:extLst>
          </p:cNvPr>
          <p:cNvSpPr>
            <a:spLocks noGrp="1"/>
          </p:cNvSpPr>
          <p:nvPr/>
        </p:nvSpPr>
        <p:spPr>
          <a:xfrm>
            <a:off x="8953500" y="4572000"/>
            <a:ext cx="59436" cy="762000"/>
          </a:xfrm>
          <a:prstGeom prst="rect">
            <a:avLst/>
          </a:prstGeom>
          <a:solidFill>
            <a:srgbClr val="7567CF"/>
          </a:solidFill>
          <a:ln w="10160">
            <a:solidFill>
              <a:srgbClr val="7567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43">
            <a:extLst>
              <a:ext uri="{FF2B5EF4-FFF2-40B4-BE49-F238E27FC236}">
                <a16:creationId xmlns:a16="http://schemas.microsoft.com/office/drawing/2014/main" id="{4A7BD83E-7824-6267-014C-F956AACFFA91}"/>
              </a:ext>
            </a:extLst>
          </p:cNvPr>
          <p:cNvSpPr>
            <a:spLocks noGrp="1"/>
          </p:cNvSpPr>
          <p:nvPr/>
        </p:nvSpPr>
        <p:spPr>
          <a:xfrm>
            <a:off x="9086850" y="4657725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14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신용</a:t>
            </a:r>
            <a:endParaRPr sz="1200"/>
          </a:p>
        </p:txBody>
      </p:sp>
      <p:sp>
        <p:nvSpPr>
          <p:cNvPr id="130" name="Text 44">
            <a:extLst>
              <a:ext uri="{FF2B5EF4-FFF2-40B4-BE49-F238E27FC236}">
                <a16:creationId xmlns:a16="http://schemas.microsoft.com/office/drawing/2014/main" id="{82F5A899-7CA8-506D-931F-DAED646C4CF4}"/>
              </a:ext>
            </a:extLst>
          </p:cNvPr>
          <p:cNvSpPr>
            <a:spLocks noGrp="1"/>
          </p:cNvSpPr>
          <p:nvPr/>
        </p:nvSpPr>
        <p:spPr>
          <a:xfrm>
            <a:off x="9086850" y="4945053"/>
            <a:ext cx="2324100" cy="209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88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BAA10Y 점수</a:t>
            </a:r>
            <a:endParaRPr sz="1100"/>
          </a:p>
        </p:txBody>
      </p:sp>
      <p:sp>
        <p:nvSpPr>
          <p:cNvPr id="132" name="Shape 45">
            <a:extLst>
              <a:ext uri="{FF2B5EF4-FFF2-40B4-BE49-F238E27FC236}">
                <a16:creationId xmlns:a16="http://schemas.microsoft.com/office/drawing/2014/main" id="{BDDA8415-1B08-697D-BFA7-D2DA64B8A983}"/>
              </a:ext>
            </a:extLst>
          </p:cNvPr>
          <p:cNvSpPr>
            <a:spLocks noGrp="1"/>
          </p:cNvSpPr>
          <p:nvPr/>
        </p:nvSpPr>
        <p:spPr>
          <a:xfrm>
            <a:off x="666750" y="5514975"/>
            <a:ext cx="10848975" cy="438150"/>
          </a:xfrm>
          <a:prstGeom prst="roundRect">
            <a:avLst>
              <a:gd name="adj" fmla="val 16000"/>
            </a:avLst>
          </a:prstGeom>
          <a:solidFill>
            <a:srgbClr val="E6F6EF"/>
          </a:solidFill>
          <a:ln w="10160">
            <a:solidFill>
              <a:srgbClr val="E6F6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Text 46">
            <a:extLst>
              <a:ext uri="{FF2B5EF4-FFF2-40B4-BE49-F238E27FC236}">
                <a16:creationId xmlns:a16="http://schemas.microsoft.com/office/drawing/2014/main" id="{5A7A5218-686F-A2F7-D65A-148BAEA0DFB9}"/>
              </a:ext>
            </a:extLst>
          </p:cNvPr>
          <p:cNvSpPr>
            <a:spLocks noGrp="1"/>
          </p:cNvSpPr>
          <p:nvPr/>
        </p:nvSpPr>
        <p:spPr>
          <a:xfrm>
            <a:off x="828675" y="5591175"/>
            <a:ext cx="10525125" cy="2667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종합점수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=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주식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+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외환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+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금리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+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신용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 (0~100점)    |   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위험단계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=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종합점수의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과거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백분위</a:t>
            </a:r>
            <a:endParaRPr sz="1400" dirty="0"/>
          </a:p>
        </p:txBody>
      </p:sp>
      <p:sp>
        <p:nvSpPr>
          <p:cNvPr id="136" name="Text 47">
            <a:extLst>
              <a:ext uri="{FF2B5EF4-FFF2-40B4-BE49-F238E27FC236}">
                <a16:creationId xmlns:a16="http://schemas.microsoft.com/office/drawing/2014/main" id="{D1CD4D08-A485-E309-8B62-2B80916D9D67}"/>
              </a:ext>
            </a:extLst>
          </p:cNvPr>
          <p:cNvSpPr>
            <a:spLocks noGrp="1"/>
          </p:cNvSpPr>
          <p:nvPr/>
        </p:nvSpPr>
        <p:spPr>
          <a:xfrm>
            <a:off x="714375" y="6019800"/>
            <a:ext cx="10810875" cy="171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6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200" dirty="0"/>
              <a:t>※ </a:t>
            </a:r>
            <a:r>
              <a:rPr lang="ko-KR" altLang="en-US"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위험단계</a:t>
            </a:r>
            <a:r>
              <a:rPr lang="en-US" altLang="ko-KR"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: </a:t>
            </a:r>
            <a:r>
              <a:rPr sz="12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정상</a:t>
            </a:r>
            <a:r>
              <a:rPr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&lt;75  ·  </a:t>
            </a:r>
            <a:r>
              <a:rPr sz="12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주의</a:t>
            </a:r>
            <a:r>
              <a:rPr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75≤P&lt;90  ·  </a:t>
            </a:r>
            <a:r>
              <a:rPr sz="12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경계</a:t>
            </a:r>
            <a:r>
              <a:rPr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90≤P&lt;95  ·  </a:t>
            </a:r>
            <a:r>
              <a:rPr sz="12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위험</a:t>
            </a:r>
            <a:r>
              <a:rPr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≥95  (</a:t>
            </a:r>
            <a:r>
              <a:rPr sz="12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종합점수</a:t>
            </a:r>
            <a:r>
              <a:rPr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2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백분위</a:t>
            </a:r>
            <a:r>
              <a:rPr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2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기준</a:t>
            </a:r>
            <a:r>
              <a:rPr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)</a:t>
            </a:r>
            <a:endParaRPr sz="1200" dirty="0"/>
          </a:p>
        </p:txBody>
      </p:sp>
      <p:sp>
        <p:nvSpPr>
          <p:cNvPr id="138" name="process-card-1">
            <a:extLst>
              <a:ext uri="{FF2B5EF4-FFF2-40B4-BE49-F238E27FC236}">
                <a16:creationId xmlns:a16="http://schemas.microsoft.com/office/drawing/2014/main" id="{9464F646-5AF3-96AF-2654-2D6A2B151EE3}"/>
              </a:ext>
            </a:extLst>
          </p:cNvPr>
          <p:cNvSpPr>
            <a:spLocks noGrp="1"/>
          </p:cNvSpPr>
          <p:nvPr/>
        </p:nvSpPr>
        <p:spPr>
          <a:xfrm>
            <a:off x="571500" y="1724024"/>
            <a:ext cx="2571750" cy="762763"/>
          </a:xfrm>
          <a:prstGeom prst="roundRect">
            <a:avLst>
              <a:gd name="adj" fmla="val 17857"/>
            </a:avLst>
          </a:prstGeom>
          <a:solidFill>
            <a:srgbClr val="EAF4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process-number-1">
            <a:extLst>
              <a:ext uri="{FF2B5EF4-FFF2-40B4-BE49-F238E27FC236}">
                <a16:creationId xmlns:a16="http://schemas.microsoft.com/office/drawing/2014/main" id="{78506835-DD63-5DF2-FAF3-85B3EAD8BE4E}"/>
              </a:ext>
            </a:extLst>
          </p:cNvPr>
          <p:cNvSpPr>
            <a:spLocks noGrp="1"/>
          </p:cNvSpPr>
          <p:nvPr/>
        </p:nvSpPr>
        <p:spPr>
          <a:xfrm>
            <a:off x="704850" y="1911367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88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01</a:t>
            </a:r>
          </a:p>
        </p:txBody>
      </p:sp>
      <p:sp>
        <p:nvSpPr>
          <p:cNvPr id="142" name="process-title-1">
            <a:extLst>
              <a:ext uri="{FF2B5EF4-FFF2-40B4-BE49-F238E27FC236}">
                <a16:creationId xmlns:a16="http://schemas.microsoft.com/office/drawing/2014/main" id="{B48F3376-7CCE-A225-67FB-EFE90F9D2B0E}"/>
              </a:ext>
            </a:extLst>
          </p:cNvPr>
          <p:cNvSpPr>
            <a:spLocks noGrp="1"/>
          </p:cNvSpPr>
          <p:nvPr/>
        </p:nvSpPr>
        <p:spPr>
          <a:xfrm>
            <a:off x="1028700" y="1882792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스트레스</a:t>
            </a:r>
            <a:r>
              <a:rPr sz="12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변환</a:t>
            </a:r>
            <a:endParaRPr sz="1200" b="1" dirty="0">
              <a:solidFill>
                <a:srgbClr val="183542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44" name="process-body-1">
            <a:extLst>
              <a:ext uri="{FF2B5EF4-FFF2-40B4-BE49-F238E27FC236}">
                <a16:creationId xmlns:a16="http://schemas.microsoft.com/office/drawing/2014/main" id="{BD5A4D6F-AFD1-1414-5F72-5E8492A60DE2}"/>
              </a:ext>
            </a:extLst>
          </p:cNvPr>
          <p:cNvSpPr>
            <a:spLocks noGrp="1"/>
          </p:cNvSpPr>
          <p:nvPr/>
        </p:nvSpPr>
        <p:spPr>
          <a:xfrm>
            <a:off x="1028700" y="2145656"/>
            <a:ext cx="1952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원자료를</a:t>
            </a:r>
            <a:r>
              <a:rPr sz="1100" dirty="0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위험</a:t>
            </a:r>
            <a:r>
              <a:rPr sz="1100" dirty="0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방향으로</a:t>
            </a:r>
            <a:r>
              <a:rPr sz="1100" dirty="0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정렬</a:t>
            </a:r>
            <a:endParaRPr sz="1100" dirty="0">
              <a:solidFill>
                <a:srgbClr val="34505B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46" name="process-card-2">
            <a:extLst>
              <a:ext uri="{FF2B5EF4-FFF2-40B4-BE49-F238E27FC236}">
                <a16:creationId xmlns:a16="http://schemas.microsoft.com/office/drawing/2014/main" id="{AE00FCDC-B717-54D0-4457-D725A7BB61BA}"/>
              </a:ext>
            </a:extLst>
          </p:cNvPr>
          <p:cNvSpPr>
            <a:spLocks noGrp="1"/>
          </p:cNvSpPr>
          <p:nvPr/>
        </p:nvSpPr>
        <p:spPr>
          <a:xfrm>
            <a:off x="3333750" y="1724024"/>
            <a:ext cx="2571750" cy="762763"/>
          </a:xfrm>
          <a:prstGeom prst="roundRect">
            <a:avLst>
              <a:gd name="adj" fmla="val 17857"/>
            </a:avLst>
          </a:prstGeom>
          <a:solidFill>
            <a:srgbClr val="F3F7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process-number-2">
            <a:extLst>
              <a:ext uri="{FF2B5EF4-FFF2-40B4-BE49-F238E27FC236}">
                <a16:creationId xmlns:a16="http://schemas.microsoft.com/office/drawing/2014/main" id="{BC7E325C-434E-9E59-80A8-6E48739CDDF9}"/>
              </a:ext>
            </a:extLst>
          </p:cNvPr>
          <p:cNvSpPr>
            <a:spLocks noGrp="1"/>
          </p:cNvSpPr>
          <p:nvPr/>
        </p:nvSpPr>
        <p:spPr>
          <a:xfrm>
            <a:off x="3467100" y="1911367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88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2B84C6"/>
                </a:solidFill>
                <a:latin typeface="NanumSquare"/>
                <a:ea typeface="NanumSquare"/>
                <a:cs typeface="NanumSquare"/>
              </a:rPr>
              <a:t>02</a:t>
            </a:r>
          </a:p>
        </p:txBody>
      </p:sp>
      <p:sp>
        <p:nvSpPr>
          <p:cNvPr id="150" name="process-title-2">
            <a:extLst>
              <a:ext uri="{FF2B5EF4-FFF2-40B4-BE49-F238E27FC236}">
                <a16:creationId xmlns:a16="http://schemas.microsoft.com/office/drawing/2014/main" id="{5638705F-0BDA-514E-AE47-25717CBBF7C4}"/>
              </a:ext>
            </a:extLst>
          </p:cNvPr>
          <p:cNvSpPr>
            <a:spLocks noGrp="1"/>
          </p:cNvSpPr>
          <p:nvPr/>
        </p:nvSpPr>
        <p:spPr>
          <a:xfrm>
            <a:off x="3790950" y="1882792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지표별 점수화</a:t>
            </a:r>
          </a:p>
        </p:txBody>
      </p:sp>
      <p:sp>
        <p:nvSpPr>
          <p:cNvPr id="152" name="process-body-2">
            <a:extLst>
              <a:ext uri="{FF2B5EF4-FFF2-40B4-BE49-F238E27FC236}">
                <a16:creationId xmlns:a16="http://schemas.microsoft.com/office/drawing/2014/main" id="{965377A6-A8E1-86DC-4514-5E9328901DCA}"/>
              </a:ext>
            </a:extLst>
          </p:cNvPr>
          <p:cNvSpPr>
            <a:spLocks noGrp="1"/>
          </p:cNvSpPr>
          <p:nvPr/>
        </p:nvSpPr>
        <p:spPr>
          <a:xfrm>
            <a:off x="3790950" y="2145656"/>
            <a:ext cx="1952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과거</a:t>
            </a:r>
            <a:r>
              <a:rPr sz="1100" dirty="0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백분위</a:t>
            </a:r>
            <a:r>
              <a:rPr sz="1100" dirty="0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 → 0~25점</a:t>
            </a:r>
          </a:p>
        </p:txBody>
      </p:sp>
      <p:sp>
        <p:nvSpPr>
          <p:cNvPr id="154" name="process-card-3">
            <a:extLst>
              <a:ext uri="{FF2B5EF4-FFF2-40B4-BE49-F238E27FC236}">
                <a16:creationId xmlns:a16="http://schemas.microsoft.com/office/drawing/2014/main" id="{3D000788-74F8-B03C-DC69-F8DF83BFFC44}"/>
              </a:ext>
            </a:extLst>
          </p:cNvPr>
          <p:cNvSpPr>
            <a:spLocks noGrp="1"/>
          </p:cNvSpPr>
          <p:nvPr/>
        </p:nvSpPr>
        <p:spPr>
          <a:xfrm>
            <a:off x="6096000" y="1724024"/>
            <a:ext cx="2571750" cy="762763"/>
          </a:xfrm>
          <a:prstGeom prst="roundRect">
            <a:avLst>
              <a:gd name="adj" fmla="val 17857"/>
            </a:avLst>
          </a:prstGeom>
          <a:solidFill>
            <a:srgbClr val="EAF4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process-number-3">
            <a:extLst>
              <a:ext uri="{FF2B5EF4-FFF2-40B4-BE49-F238E27FC236}">
                <a16:creationId xmlns:a16="http://schemas.microsoft.com/office/drawing/2014/main" id="{8BA0D274-4BA7-1635-7EF5-23D78EF6FAC3}"/>
              </a:ext>
            </a:extLst>
          </p:cNvPr>
          <p:cNvSpPr>
            <a:spLocks noGrp="1"/>
          </p:cNvSpPr>
          <p:nvPr/>
        </p:nvSpPr>
        <p:spPr>
          <a:xfrm>
            <a:off x="6229350" y="1911367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88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E88967"/>
                </a:solidFill>
                <a:latin typeface="NanumSquare"/>
                <a:ea typeface="NanumSquare"/>
                <a:cs typeface="NanumSquare"/>
              </a:rPr>
              <a:t>03</a:t>
            </a:r>
          </a:p>
        </p:txBody>
      </p:sp>
      <p:sp>
        <p:nvSpPr>
          <p:cNvPr id="158" name="process-title-3">
            <a:extLst>
              <a:ext uri="{FF2B5EF4-FFF2-40B4-BE49-F238E27FC236}">
                <a16:creationId xmlns:a16="http://schemas.microsoft.com/office/drawing/2014/main" id="{93FA1617-F2C1-91E3-BC99-A23872C6DE26}"/>
              </a:ext>
            </a:extLst>
          </p:cNvPr>
          <p:cNvSpPr>
            <a:spLocks noGrp="1"/>
          </p:cNvSpPr>
          <p:nvPr/>
        </p:nvSpPr>
        <p:spPr>
          <a:xfrm>
            <a:off x="6553200" y="1882792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시장별 집계</a:t>
            </a:r>
          </a:p>
        </p:txBody>
      </p:sp>
      <p:sp>
        <p:nvSpPr>
          <p:cNvPr id="160" name="process-body-3">
            <a:extLst>
              <a:ext uri="{FF2B5EF4-FFF2-40B4-BE49-F238E27FC236}">
                <a16:creationId xmlns:a16="http://schemas.microsoft.com/office/drawing/2014/main" id="{108C5C55-9087-676E-F5B5-FB3C1999F937}"/>
              </a:ext>
            </a:extLst>
          </p:cNvPr>
          <p:cNvSpPr>
            <a:spLocks noGrp="1"/>
          </p:cNvSpPr>
          <p:nvPr/>
        </p:nvSpPr>
        <p:spPr>
          <a:xfrm>
            <a:off x="6553200" y="2145656"/>
            <a:ext cx="1952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4개 시장 점수 합산</a:t>
            </a:r>
          </a:p>
        </p:txBody>
      </p:sp>
      <p:sp>
        <p:nvSpPr>
          <p:cNvPr id="162" name="process-card-4">
            <a:extLst>
              <a:ext uri="{FF2B5EF4-FFF2-40B4-BE49-F238E27FC236}">
                <a16:creationId xmlns:a16="http://schemas.microsoft.com/office/drawing/2014/main" id="{8E1BC78E-5669-E4D6-5B6F-63A77FB32684}"/>
              </a:ext>
            </a:extLst>
          </p:cNvPr>
          <p:cNvSpPr>
            <a:spLocks noGrp="1"/>
          </p:cNvSpPr>
          <p:nvPr/>
        </p:nvSpPr>
        <p:spPr>
          <a:xfrm>
            <a:off x="8858250" y="1724024"/>
            <a:ext cx="2571750" cy="762763"/>
          </a:xfrm>
          <a:prstGeom prst="roundRect">
            <a:avLst>
              <a:gd name="adj" fmla="val 17857"/>
            </a:avLst>
          </a:prstGeom>
          <a:solidFill>
            <a:srgbClr val="F3F7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4" name="process-number-4">
            <a:extLst>
              <a:ext uri="{FF2B5EF4-FFF2-40B4-BE49-F238E27FC236}">
                <a16:creationId xmlns:a16="http://schemas.microsoft.com/office/drawing/2014/main" id="{A61B9AE4-2140-1E8F-2EFC-40B04BDFF3B1}"/>
              </a:ext>
            </a:extLst>
          </p:cNvPr>
          <p:cNvSpPr>
            <a:spLocks noGrp="1"/>
          </p:cNvSpPr>
          <p:nvPr/>
        </p:nvSpPr>
        <p:spPr>
          <a:xfrm>
            <a:off x="8991600" y="1911367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88" b="1">
                <a:solidFill>
                  <a:srgbClr val="7562D5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7562D5"/>
                </a:solidFill>
                <a:latin typeface="NanumSquare"/>
                <a:ea typeface="NanumSquare"/>
                <a:cs typeface="NanumSquare"/>
              </a:rPr>
              <a:t>04</a:t>
            </a:r>
          </a:p>
        </p:txBody>
      </p:sp>
      <p:sp>
        <p:nvSpPr>
          <p:cNvPr id="166" name="process-title-4">
            <a:extLst>
              <a:ext uri="{FF2B5EF4-FFF2-40B4-BE49-F238E27FC236}">
                <a16:creationId xmlns:a16="http://schemas.microsoft.com/office/drawing/2014/main" id="{E17ED839-CBDE-8DC2-37AC-D372642E3217}"/>
              </a:ext>
            </a:extLst>
          </p:cNvPr>
          <p:cNvSpPr>
            <a:spLocks noGrp="1"/>
          </p:cNvSpPr>
          <p:nvPr/>
        </p:nvSpPr>
        <p:spPr>
          <a:xfrm>
            <a:off x="9315450" y="1882792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915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위험단계 판정</a:t>
            </a:r>
          </a:p>
        </p:txBody>
      </p:sp>
      <p:sp>
        <p:nvSpPr>
          <p:cNvPr id="168" name="process-body-4">
            <a:extLst>
              <a:ext uri="{FF2B5EF4-FFF2-40B4-BE49-F238E27FC236}">
                <a16:creationId xmlns:a16="http://schemas.microsoft.com/office/drawing/2014/main" id="{25AA6255-1145-C767-8B81-D304722CD532}"/>
              </a:ext>
            </a:extLst>
          </p:cNvPr>
          <p:cNvSpPr>
            <a:spLocks noGrp="1"/>
          </p:cNvSpPr>
          <p:nvPr/>
        </p:nvSpPr>
        <p:spPr>
          <a:xfrm>
            <a:off x="9315450" y="2145656"/>
            <a:ext cx="1952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13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종합</a:t>
            </a:r>
            <a:r>
              <a:rPr sz="1100" dirty="0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백분위</a:t>
            </a:r>
            <a:r>
              <a:rPr sz="1100" dirty="0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34505B"/>
                </a:solidFill>
                <a:latin typeface="NanumSquare"/>
                <a:ea typeface="NanumSquare"/>
                <a:cs typeface="NanumSquare"/>
              </a:rPr>
              <a:t>기준</a:t>
            </a:r>
            <a:endParaRPr sz="1100" dirty="0">
              <a:solidFill>
                <a:srgbClr val="34505B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70" name="formula-rule-note">
            <a:extLst>
              <a:ext uri="{FF2B5EF4-FFF2-40B4-BE49-F238E27FC236}">
                <a16:creationId xmlns:a16="http://schemas.microsoft.com/office/drawing/2014/main" id="{D694B9EF-A239-F700-A439-09CD17B15FA0}"/>
              </a:ext>
            </a:extLst>
          </p:cNvPr>
          <p:cNvSpPr>
            <a:spLocks noGrp="1"/>
          </p:cNvSpPr>
          <p:nvPr/>
        </p:nvSpPr>
        <p:spPr>
          <a:xfrm>
            <a:off x="828675" y="3730377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690">
                <a:solidFill>
                  <a:srgbClr val="B5D9D0"/>
                </a:solidFill>
                <a:latin typeface="NanumSquare"/>
                <a:ea typeface="NanumSquare"/>
                <a:cs typeface="NanumSquare"/>
              </a:defRPr>
            </a:pPr>
            <a:r>
              <a:rPr sz="1000" dirty="0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Pᵢ ≤ 50 → 0점(</a:t>
            </a:r>
            <a:r>
              <a:rPr sz="1000" dirty="0" err="1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평소</a:t>
            </a:r>
            <a:r>
              <a:rPr sz="1000" dirty="0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범위</a:t>
            </a:r>
            <a:r>
              <a:rPr sz="1000" dirty="0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) · </a:t>
            </a:r>
            <a:r>
              <a:rPr sz="1000" dirty="0" err="1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이후</a:t>
            </a:r>
            <a:r>
              <a:rPr sz="1000" dirty="0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선형</a:t>
            </a:r>
            <a:r>
              <a:rPr sz="1000" dirty="0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환산</a:t>
            </a:r>
            <a:r>
              <a:rPr sz="1000" dirty="0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 · </a:t>
            </a:r>
            <a:r>
              <a:rPr sz="1000" dirty="0" err="1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미래</a:t>
            </a:r>
            <a:r>
              <a:rPr sz="1000" dirty="0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데이터</a:t>
            </a:r>
            <a:r>
              <a:rPr sz="1000" dirty="0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B5D9D0"/>
                </a:solidFill>
                <a:latin typeface="NanumSquare"/>
                <a:ea typeface="NanumSquare"/>
                <a:cs typeface="NanumSquare"/>
              </a:rPr>
              <a:t>미사용</a:t>
            </a:r>
            <a:endParaRPr sz="1000" dirty="0">
              <a:solidFill>
                <a:srgbClr val="B5D9D0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72" name="mapping-note">
            <a:extLst>
              <a:ext uri="{FF2B5EF4-FFF2-40B4-BE49-F238E27FC236}">
                <a16:creationId xmlns:a16="http://schemas.microsoft.com/office/drawing/2014/main" id="{53E3BB56-A910-3506-4DFA-B6D6246D8E5F}"/>
              </a:ext>
            </a:extLst>
          </p:cNvPr>
          <p:cNvSpPr>
            <a:spLocks noGrp="1"/>
          </p:cNvSpPr>
          <p:nvPr/>
        </p:nvSpPr>
        <p:spPr>
          <a:xfrm>
            <a:off x="7343775" y="3829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백분위가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높을수록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과거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대비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스트레스가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큰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상태</a:t>
            </a:r>
            <a:endParaRPr sz="1000" dirty="0">
              <a:solidFill>
                <a:srgbClr val="6F8790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74" name="market-note">
            <a:extLst>
              <a:ext uri="{FF2B5EF4-FFF2-40B4-BE49-F238E27FC236}">
                <a16:creationId xmlns:a16="http://schemas.microsoft.com/office/drawing/2014/main" id="{022EB25C-2D5A-2671-FD08-A7BCB0AFA2A5}"/>
              </a:ext>
            </a:extLst>
          </p:cNvPr>
          <p:cNvSpPr>
            <a:spLocks noGrp="1"/>
          </p:cNvSpPr>
          <p:nvPr/>
        </p:nvSpPr>
        <p:spPr>
          <a:xfrm>
            <a:off x="8096250" y="43243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각 항목은 개별 지표 점수(0~25점) 기준</a:t>
            </a:r>
          </a:p>
        </p:txBody>
      </p:sp>
      <p:sp>
        <p:nvSpPr>
          <p:cNvPr id="176" name="common-date-note">
            <a:extLst>
              <a:ext uri="{FF2B5EF4-FFF2-40B4-BE49-F238E27FC236}">
                <a16:creationId xmlns:a16="http://schemas.microsoft.com/office/drawing/2014/main" id="{A700A0DF-75DA-7C81-67B5-3CE98FAB7144}"/>
              </a:ext>
            </a:extLst>
          </p:cNvPr>
          <p:cNvSpPr>
            <a:spLocks noGrp="1"/>
          </p:cNvSpPr>
          <p:nvPr/>
        </p:nvSpPr>
        <p:spPr>
          <a:xfrm>
            <a:off x="705497" y="6271765"/>
            <a:ext cx="10810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66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※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공통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기준일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: 5개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지표가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모두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존재하는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마지막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관측일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·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개별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지표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최신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관측일과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다를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수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있음</a:t>
            </a:r>
            <a:endParaRPr sz="1000" dirty="0">
              <a:solidFill>
                <a:srgbClr val="6F8790"/>
              </a:solidFill>
              <a:latin typeface="NanumSquare"/>
              <a:ea typeface="NanumSquare"/>
              <a:cs typeface="NanumSquar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p-card-1">
            <a:extLst>
              <a:ext uri="{FF2B5EF4-FFF2-40B4-BE49-F238E27FC236}">
                <a16:creationId xmlns:a16="http://schemas.microsoft.com/office/drawing/2014/main" id="{F4B519EB-B151-43B2-DFE4-F9B5FA5FF55A}"/>
              </a:ext>
            </a:extLst>
          </p:cNvPr>
          <p:cNvSpPr>
            <a:spLocks noGrp="1"/>
          </p:cNvSpPr>
          <p:nvPr/>
        </p:nvSpPr>
        <p:spPr>
          <a:xfrm>
            <a:off x="4440240" y="4726515"/>
            <a:ext cx="3441888" cy="685800"/>
          </a:xfrm>
          <a:prstGeom prst="roundRect">
            <a:avLst>
              <a:gd name="adj" fmla="val 13889"/>
            </a:avLst>
          </a:prstGeom>
          <a:solidFill>
            <a:srgbClr val="EAF4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8" name="op-card-1">
            <a:extLst>
              <a:ext uri="{FF2B5EF4-FFF2-40B4-BE49-F238E27FC236}">
                <a16:creationId xmlns:a16="http://schemas.microsoft.com/office/drawing/2014/main" id="{165E33B9-D60B-EBF2-35F2-23CC562F031D}"/>
              </a:ext>
            </a:extLst>
          </p:cNvPr>
          <p:cNvSpPr>
            <a:spLocks noGrp="1"/>
          </p:cNvSpPr>
          <p:nvPr/>
        </p:nvSpPr>
        <p:spPr>
          <a:xfrm>
            <a:off x="8231994" y="4757208"/>
            <a:ext cx="3441888" cy="685800"/>
          </a:xfrm>
          <a:prstGeom prst="roundRect">
            <a:avLst>
              <a:gd name="adj" fmla="val 13889"/>
            </a:avLst>
          </a:prstGeom>
          <a:solidFill>
            <a:srgbClr val="EAF4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26F8010-035B-0C53-8009-1F2ED86629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D48231F-B90F-C485-4007-BACF84CBA91A}"/>
              </a:ext>
            </a:extLst>
          </p:cNvPr>
          <p:cNvSpPr>
            <a:spLocks noGrp="1"/>
          </p:cNvSpPr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90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900" b="1" spc="20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06 / DATABASE</a:t>
            </a:r>
            <a:endParaRPr sz="9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1EBCC02-7B80-C193-152D-CAC7CDB40E39}"/>
              </a:ext>
            </a:extLst>
          </p:cNvPr>
          <p:cNvSpPr>
            <a:spLocks noGrp="1"/>
          </p:cNvSpPr>
          <p:nvPr/>
        </p:nvSpPr>
        <p:spPr>
          <a:xfrm>
            <a:off x="8439912" y="256032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830" b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KAIST · CLOUD COMPUTING LAB · TEAM 7</a:t>
            </a:r>
            <a:endParaRPr sz="83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1C0598C6-319C-366F-04EC-7BC29F40622F}"/>
              </a:ext>
            </a:extLst>
          </p:cNvPr>
          <p:cNvSpPr>
            <a:spLocks noGrp="1"/>
          </p:cNvSpPr>
          <p:nvPr/>
        </p:nvSpPr>
        <p:spPr>
          <a:xfrm>
            <a:off x="566928" y="6629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228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원천·점수·실행</a:t>
            </a:r>
            <a:r>
              <a:rPr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이력을</a:t>
            </a:r>
            <a:r>
              <a:rPr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분리한</a:t>
            </a:r>
            <a:r>
              <a:rPr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PostgreSQL </a:t>
            </a:r>
            <a:r>
              <a:rPr sz="27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스키마</a:t>
            </a:r>
            <a:endParaRPr sz="27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0F9B355-A2FA-F47B-DD1A-838FBEB793A8}"/>
              </a:ext>
            </a:extLst>
          </p:cNvPr>
          <p:cNvSpPr>
            <a:spLocks noGrp="1"/>
          </p:cNvSpPr>
          <p:nvPr/>
        </p:nvSpPr>
        <p:spPr>
          <a:xfrm>
            <a:off x="576072" y="1207008"/>
            <a:ext cx="10789920" cy="2651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9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000" dirty="0">
                <a:solidFill>
                  <a:srgbClr val="6F8790"/>
                </a:solidFill>
                <a:latin typeface="+mn-ea"/>
                <a:ea typeface="+mn-ea"/>
              </a:rPr>
              <a:t>5개 </a:t>
            </a:r>
            <a:r>
              <a:rPr sz="1000" dirty="0" err="1">
                <a:solidFill>
                  <a:srgbClr val="6F8790"/>
                </a:solidFill>
                <a:latin typeface="+mn-ea"/>
                <a:ea typeface="+mn-ea"/>
              </a:rPr>
              <a:t>테이블</a:t>
            </a:r>
            <a:r>
              <a:rPr sz="1000" dirty="0">
                <a:solidFill>
                  <a:srgbClr val="6F8790"/>
                </a:solidFill>
                <a:latin typeface="+mn-ea"/>
                <a:ea typeface="+mn-ea"/>
              </a:rPr>
              <a:t>  ·  </a:t>
            </a:r>
            <a:r>
              <a:rPr sz="1000" dirty="0" err="1">
                <a:solidFill>
                  <a:srgbClr val="6F8790"/>
                </a:solidFill>
                <a:latin typeface="+mn-ea"/>
                <a:ea typeface="+mn-ea"/>
              </a:rPr>
              <a:t>복합</a:t>
            </a:r>
            <a:r>
              <a:rPr sz="1000" dirty="0">
                <a:solidFill>
                  <a:srgbClr val="6F8790"/>
                </a:solidFill>
                <a:latin typeface="+mn-ea"/>
                <a:ea typeface="+mn-ea"/>
              </a:rPr>
              <a:t> PK/FK  ·  </a:t>
            </a:r>
            <a:r>
              <a:rPr sz="1000" dirty="0" err="1">
                <a:solidFill>
                  <a:srgbClr val="6F8790"/>
                </a:solidFill>
                <a:latin typeface="+mn-ea"/>
                <a:ea typeface="+mn-ea"/>
              </a:rPr>
              <a:t>upsert</a:t>
            </a:r>
            <a:r>
              <a:rPr sz="1000" dirty="0">
                <a:solidFill>
                  <a:srgbClr val="6F8790"/>
                </a:solidFill>
                <a:latin typeface="+mn-ea"/>
                <a:ea typeface="+mn-ea"/>
              </a:rPr>
              <a:t>  ·  RLS  ·  </a:t>
            </a:r>
            <a:r>
              <a:rPr sz="1000" dirty="0" err="1">
                <a:solidFill>
                  <a:srgbClr val="6F8790"/>
                </a:solidFill>
                <a:latin typeface="+mn-ea"/>
                <a:ea typeface="+mn-ea"/>
              </a:rPr>
              <a:t>FastAPI</a:t>
            </a:r>
            <a:r>
              <a:rPr sz="1000" dirty="0">
                <a:solidFill>
                  <a:srgbClr val="6F8790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+mn-ea"/>
                <a:ea typeface="+mn-ea"/>
              </a:rPr>
              <a:t>읽기</a:t>
            </a:r>
            <a:r>
              <a:rPr sz="1000" dirty="0">
                <a:solidFill>
                  <a:srgbClr val="6F8790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+mn-ea"/>
                <a:ea typeface="+mn-ea"/>
              </a:rPr>
              <a:t>전용</a:t>
            </a:r>
            <a:r>
              <a:rPr sz="1000" dirty="0">
                <a:solidFill>
                  <a:srgbClr val="6F8790"/>
                </a:solidFill>
                <a:latin typeface="+mn-ea"/>
                <a:ea typeface="+mn-ea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+mn-ea"/>
                <a:ea typeface="+mn-ea"/>
              </a:rPr>
              <a:t>조회</a:t>
            </a:r>
            <a:endParaRPr sz="1000" dirty="0">
              <a:latin typeface="+mn-ea"/>
              <a:ea typeface="+mn-ea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C53ED81C-E404-58B2-2C63-660E73F55AB8}"/>
              </a:ext>
            </a:extLst>
          </p:cNvPr>
          <p:cNvSpPr>
            <a:spLocks noGrp="1"/>
          </p:cNvSpPr>
          <p:nvPr/>
        </p:nvSpPr>
        <p:spPr>
          <a:xfrm>
            <a:off x="566928" y="1581912"/>
            <a:ext cx="11091672" cy="0"/>
          </a:xfrm>
          <a:prstGeom prst="line">
            <a:avLst/>
          </a:prstGeom>
          <a:noFill/>
          <a:ln w="12700">
            <a:solidFill>
              <a:srgbClr val="DF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CCA69C0-2A09-4BFB-F9FB-96DBE79D63E6}"/>
              </a:ext>
            </a:extLst>
          </p:cNvPr>
          <p:cNvSpPr>
            <a:spLocks noGrp="1"/>
          </p:cNvSpPr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r">
              <a:buNone/>
              <a:defRPr sz="870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87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0</a:t>
            </a:r>
            <a:r>
              <a:rPr lang="en-US" sz="87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7</a:t>
            </a:r>
            <a:r>
              <a:rPr sz="87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 / 10</a:t>
            </a:r>
            <a:endParaRPr sz="87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5A528124-C904-5640-6D79-403ACB4D3338}"/>
              </a:ext>
            </a:extLst>
          </p:cNvPr>
          <p:cNvSpPr>
            <a:spLocks noGrp="1"/>
          </p:cNvSpPr>
          <p:nvPr/>
        </p:nvSpPr>
        <p:spPr>
          <a:xfrm>
            <a:off x="2190750" y="2971800"/>
            <a:ext cx="0" cy="504825"/>
          </a:xfrm>
          <a:prstGeom prst="line">
            <a:avLst/>
          </a:prstGeom>
          <a:noFill/>
          <a:ln w="13335">
            <a:solidFill>
              <a:srgbClr val="A9BFC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141BA50B-55BB-68BA-3D63-035AC2C95901}"/>
              </a:ext>
            </a:extLst>
          </p:cNvPr>
          <p:cNvSpPr>
            <a:spLocks noGrp="1"/>
          </p:cNvSpPr>
          <p:nvPr/>
        </p:nvSpPr>
        <p:spPr>
          <a:xfrm>
            <a:off x="10018182" y="2971800"/>
            <a:ext cx="0" cy="504825"/>
          </a:xfrm>
          <a:prstGeom prst="line">
            <a:avLst/>
          </a:prstGeom>
          <a:noFill/>
          <a:ln w="13335">
            <a:solidFill>
              <a:srgbClr val="A9BFC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C33E8D0A-BDA9-69BD-43B8-A2C6FBA045DC}"/>
              </a:ext>
            </a:extLst>
          </p:cNvPr>
          <p:cNvSpPr>
            <a:spLocks noGrp="1"/>
          </p:cNvSpPr>
          <p:nvPr/>
        </p:nvSpPr>
        <p:spPr>
          <a:xfrm>
            <a:off x="571500" y="2076449"/>
            <a:ext cx="3238500" cy="962025"/>
          </a:xfrm>
          <a:prstGeom prst="roundRect">
            <a:avLst>
              <a:gd name="adj" fmla="val 8929"/>
            </a:avLst>
          </a:prstGeom>
          <a:solidFill>
            <a:srgbClr val="F6FAF9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32E16EDC-4F9A-FD25-BE80-29B0557C0690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61913" cy="962024"/>
          </a:xfrm>
          <a:prstGeom prst="rect">
            <a:avLst/>
          </a:prstGeom>
          <a:solidFill>
            <a:srgbClr val="287CC8"/>
          </a:solidFill>
          <a:ln w="10160">
            <a:solidFill>
              <a:srgbClr val="287C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CCE81557-5EA6-515E-B241-E662834E7B54}"/>
              </a:ext>
            </a:extLst>
          </p:cNvPr>
          <p:cNvSpPr>
            <a:spLocks noGrp="1"/>
          </p:cNvSpPr>
          <p:nvPr/>
        </p:nvSpPr>
        <p:spPr>
          <a:xfrm>
            <a:off x="733425" y="2139948"/>
            <a:ext cx="2952750" cy="247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indicators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9FD48E5F-324F-800B-67D0-87B0A51C6E7B}"/>
              </a:ext>
            </a:extLst>
          </p:cNvPr>
          <p:cNvSpPr>
            <a:spLocks noGrp="1"/>
          </p:cNvSpPr>
          <p:nvPr/>
        </p:nvSpPr>
        <p:spPr>
          <a:xfrm>
            <a:off x="733425" y="2392831"/>
            <a:ext cx="2952750" cy="1809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2B84C6"/>
                </a:solidFill>
                <a:latin typeface="+mn-ea"/>
                <a:ea typeface="+mn-ea"/>
                <a:cs typeface="NanumSquare"/>
              </a:rPr>
              <a:t>PK  code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CC338246-6D9D-6154-88E1-9F0578BA1630}"/>
              </a:ext>
            </a:extLst>
          </p:cNvPr>
          <p:cNvSpPr>
            <a:spLocks noGrp="1"/>
          </p:cNvSpPr>
          <p:nvPr/>
        </p:nvSpPr>
        <p:spPr>
          <a:xfrm>
            <a:off x="721315" y="2579336"/>
            <a:ext cx="261274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FRED 5개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지표의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기준정보</a:t>
            </a:r>
            <a:endParaRPr lang="en-US" sz="1100" dirty="0">
              <a:solidFill>
                <a:srgbClr val="6F8790"/>
              </a:solidFill>
              <a:latin typeface="+mn-ea"/>
              <a:ea typeface="+mn-ea"/>
              <a:cs typeface="NanumSquare"/>
            </a:endParaRPr>
          </a:p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sz="1100" dirty="0">
                <a:latin typeface="+mn-ea"/>
                <a:ea typeface="+mn-ea"/>
              </a:rPr>
              <a:t>: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지표명</a:t>
            </a: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·</a:t>
            </a: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시장</a:t>
            </a: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·</a:t>
            </a: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단위</a:t>
            </a: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·</a:t>
            </a: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출처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5F8EA548-C87C-785C-769E-97A2EC7FC78E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2638726" cy="1123950"/>
          </a:xfrm>
          <a:prstGeom prst="roundRect">
            <a:avLst>
              <a:gd name="adj" fmla="val 9259"/>
            </a:avLst>
          </a:prstGeom>
          <a:solidFill>
            <a:srgbClr val="F6FAF9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59F45577-21FB-A47A-1E0D-8F11EA7CB935}"/>
              </a:ext>
            </a:extLst>
          </p:cNvPr>
          <p:cNvSpPr>
            <a:spLocks noGrp="1"/>
          </p:cNvSpPr>
          <p:nvPr/>
        </p:nvSpPr>
        <p:spPr>
          <a:xfrm>
            <a:off x="571501" y="3476624"/>
            <a:ext cx="61912" cy="1123949"/>
          </a:xfrm>
          <a:prstGeom prst="rect">
            <a:avLst/>
          </a:prstGeom>
          <a:solidFill>
            <a:srgbClr val="287CC8"/>
          </a:solidFill>
          <a:ln w="10160">
            <a:solidFill>
              <a:srgbClr val="287C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DDCF145B-CCFC-FA66-AD48-E8FA130AC49D}"/>
              </a:ext>
            </a:extLst>
          </p:cNvPr>
          <p:cNvSpPr>
            <a:spLocks noGrp="1"/>
          </p:cNvSpPr>
          <p:nvPr/>
        </p:nvSpPr>
        <p:spPr>
          <a:xfrm>
            <a:off x="733425" y="3590925"/>
            <a:ext cx="2952750" cy="247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observations</a:t>
            </a:r>
            <a:endParaRPr sz="1100">
              <a:latin typeface="+mn-ea"/>
              <a:ea typeface="+mn-ea"/>
            </a:endParaRPr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D43D4F19-8589-2842-633A-74D991AA2CD1}"/>
              </a:ext>
            </a:extLst>
          </p:cNvPr>
          <p:cNvSpPr>
            <a:spLocks noGrp="1"/>
          </p:cNvSpPr>
          <p:nvPr/>
        </p:nvSpPr>
        <p:spPr>
          <a:xfrm>
            <a:off x="733425" y="3855920"/>
            <a:ext cx="2952750" cy="1809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65" b="1">
                <a:solidFill>
                  <a:srgbClr val="2B84C6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2B84C6"/>
                </a:solidFill>
                <a:latin typeface="+mn-ea"/>
                <a:ea typeface="+mn-ea"/>
                <a:cs typeface="NanumSquare"/>
              </a:rPr>
              <a:t>PK/FK  code + </a:t>
            </a:r>
            <a:r>
              <a:rPr sz="1100" b="1" dirty="0" err="1">
                <a:solidFill>
                  <a:srgbClr val="2B84C6"/>
                </a:solidFill>
                <a:latin typeface="+mn-ea"/>
                <a:ea typeface="+mn-ea"/>
                <a:cs typeface="NanumSquare"/>
              </a:rPr>
              <a:t>obs_date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E8EBF948-44AC-1F55-E676-DD6D8F42A321}"/>
              </a:ext>
            </a:extLst>
          </p:cNvPr>
          <p:cNvSpPr>
            <a:spLocks noGrp="1"/>
          </p:cNvSpPr>
          <p:nvPr/>
        </p:nvSpPr>
        <p:spPr>
          <a:xfrm>
            <a:off x="733425" y="4095750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FRED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원천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일별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관측값</a:t>
            </a:r>
            <a:endParaRPr sz="1100" dirty="0">
              <a:latin typeface="+mn-ea"/>
              <a:ea typeface="+mn-ea"/>
            </a:endParaRPr>
          </a:p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: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원본값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·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관측일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·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fetched_at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·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결측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NULL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AC86E3E3-C705-F9D8-DA8E-55BC9FDF48C3}"/>
              </a:ext>
            </a:extLst>
          </p:cNvPr>
          <p:cNvSpPr>
            <a:spLocks noGrp="1"/>
          </p:cNvSpPr>
          <p:nvPr/>
        </p:nvSpPr>
        <p:spPr>
          <a:xfrm>
            <a:off x="4658785" y="3476625"/>
            <a:ext cx="2605087" cy="1123950"/>
          </a:xfrm>
          <a:prstGeom prst="roundRect">
            <a:avLst>
              <a:gd name="adj" fmla="val 9259"/>
            </a:avLst>
          </a:prstGeom>
          <a:solidFill>
            <a:srgbClr val="F6FAF9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49" name="Shape 25">
            <a:extLst>
              <a:ext uri="{FF2B5EF4-FFF2-40B4-BE49-F238E27FC236}">
                <a16:creationId xmlns:a16="http://schemas.microsoft.com/office/drawing/2014/main" id="{6D6B90BC-9C48-604F-1C77-5FD06199598B}"/>
              </a:ext>
            </a:extLst>
          </p:cNvPr>
          <p:cNvSpPr>
            <a:spLocks noGrp="1"/>
          </p:cNvSpPr>
          <p:nvPr/>
        </p:nvSpPr>
        <p:spPr>
          <a:xfrm>
            <a:off x="4658785" y="3476625"/>
            <a:ext cx="61913" cy="1123950"/>
          </a:xfrm>
          <a:prstGeom prst="rect">
            <a:avLst/>
          </a:prstGeom>
          <a:solidFill>
            <a:srgbClr val="15A575"/>
          </a:solidFill>
          <a:ln w="10160">
            <a:solidFill>
              <a:srgbClr val="15A5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23FA052A-5B3F-F3CF-8C1D-A546B176D251}"/>
              </a:ext>
            </a:extLst>
          </p:cNvPr>
          <p:cNvSpPr>
            <a:spLocks noGrp="1"/>
          </p:cNvSpPr>
          <p:nvPr/>
        </p:nvSpPr>
        <p:spPr>
          <a:xfrm>
            <a:off x="4846110" y="3607859"/>
            <a:ext cx="2952750" cy="247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indicator_score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4B4B8D63-1088-79E0-0770-99C5EDF2CBC8}"/>
              </a:ext>
            </a:extLst>
          </p:cNvPr>
          <p:cNvSpPr>
            <a:spLocks noGrp="1"/>
          </p:cNvSpPr>
          <p:nvPr/>
        </p:nvSpPr>
        <p:spPr>
          <a:xfrm>
            <a:off x="4846110" y="3903134"/>
            <a:ext cx="2952750" cy="1809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PK/FK  code + </a:t>
            </a:r>
            <a:r>
              <a:rPr sz="1100" b="1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as_of_date</a:t>
            </a:r>
            <a:r>
              <a:rPr sz="1100" b="1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 + </a:t>
            </a:r>
            <a:r>
              <a:rPr sz="1100" b="1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rule_version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4EA9DA87-F7E8-F2BA-DD12-3402AB31EB16}"/>
              </a:ext>
            </a:extLst>
          </p:cNvPr>
          <p:cNvSpPr>
            <a:spLocks noGrp="1"/>
          </p:cNvSpPr>
          <p:nvPr/>
        </p:nvSpPr>
        <p:spPr>
          <a:xfrm>
            <a:off x="4846110" y="4112684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지표별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스트레스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계산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결과</a:t>
            </a:r>
            <a:endParaRPr sz="1100" dirty="0">
              <a:latin typeface="+mn-ea"/>
              <a:ea typeface="+mn-ea"/>
            </a:endParaRPr>
          </a:p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: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stress_value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· percentile · score(0~25)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8B30AF7C-B869-633F-D2B7-89D44227537E}"/>
              </a:ext>
            </a:extLst>
          </p:cNvPr>
          <p:cNvSpPr>
            <a:spLocks noGrp="1"/>
          </p:cNvSpPr>
          <p:nvPr/>
        </p:nvSpPr>
        <p:spPr>
          <a:xfrm>
            <a:off x="8398932" y="3476625"/>
            <a:ext cx="3238500" cy="1123949"/>
          </a:xfrm>
          <a:prstGeom prst="roundRect">
            <a:avLst>
              <a:gd name="adj" fmla="val 9259"/>
            </a:avLst>
          </a:prstGeom>
          <a:solidFill>
            <a:srgbClr val="F6FAF9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0D4A95D1-A4E5-178A-4767-DFE96D048F36}"/>
              </a:ext>
            </a:extLst>
          </p:cNvPr>
          <p:cNvSpPr>
            <a:spLocks noGrp="1"/>
          </p:cNvSpPr>
          <p:nvPr/>
        </p:nvSpPr>
        <p:spPr>
          <a:xfrm>
            <a:off x="8398932" y="3476625"/>
            <a:ext cx="61913" cy="1123950"/>
          </a:xfrm>
          <a:prstGeom prst="rect">
            <a:avLst/>
          </a:prstGeom>
          <a:solidFill>
            <a:srgbClr val="15A575"/>
          </a:solidFill>
          <a:ln w="10160">
            <a:solidFill>
              <a:srgbClr val="15A5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3B984E62-0A97-2ACB-4800-5322D575DE19}"/>
              </a:ext>
            </a:extLst>
          </p:cNvPr>
          <p:cNvSpPr>
            <a:spLocks noGrp="1"/>
          </p:cNvSpPr>
          <p:nvPr/>
        </p:nvSpPr>
        <p:spPr>
          <a:xfrm>
            <a:off x="8560857" y="3590925"/>
            <a:ext cx="2952750" cy="247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daily_scores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78D7F96F-2471-A47C-9135-FBE8E8361B9F}"/>
              </a:ext>
            </a:extLst>
          </p:cNvPr>
          <p:cNvSpPr>
            <a:spLocks noGrp="1"/>
          </p:cNvSpPr>
          <p:nvPr/>
        </p:nvSpPr>
        <p:spPr>
          <a:xfrm>
            <a:off x="8560857" y="3886200"/>
            <a:ext cx="2952750" cy="1809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PK  </a:t>
            </a:r>
            <a:r>
              <a:rPr sz="1100" b="1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as_of_date</a:t>
            </a:r>
            <a:r>
              <a:rPr sz="1100" b="1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 + </a:t>
            </a:r>
            <a:r>
              <a:rPr sz="1100" b="1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rule_version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65" name="Text 33">
            <a:extLst>
              <a:ext uri="{FF2B5EF4-FFF2-40B4-BE49-F238E27FC236}">
                <a16:creationId xmlns:a16="http://schemas.microsoft.com/office/drawing/2014/main" id="{CBF83047-EB3F-26D0-B343-2A89FF57D1CE}"/>
              </a:ext>
            </a:extLst>
          </p:cNvPr>
          <p:cNvSpPr>
            <a:spLocks noGrp="1"/>
          </p:cNvSpPr>
          <p:nvPr/>
        </p:nvSpPr>
        <p:spPr>
          <a:xfrm>
            <a:off x="8560857" y="4095750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일별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시장·종합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점수</a:t>
            </a:r>
            <a:endParaRPr sz="1100" dirty="0">
              <a:latin typeface="+mn-ea"/>
              <a:ea typeface="+mn-ea"/>
            </a:endParaRPr>
          </a:p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: 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4개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시장점수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·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total_score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· stage ·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spread_count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15C758E7-FA92-17BE-0510-3AB1595B562D}"/>
              </a:ext>
            </a:extLst>
          </p:cNvPr>
          <p:cNvSpPr>
            <a:spLocks noGrp="1"/>
          </p:cNvSpPr>
          <p:nvPr/>
        </p:nvSpPr>
        <p:spPr>
          <a:xfrm>
            <a:off x="8398932" y="2076449"/>
            <a:ext cx="3238500" cy="1019173"/>
          </a:xfrm>
          <a:prstGeom prst="roundRect">
            <a:avLst>
              <a:gd name="adj" fmla="val 8929"/>
            </a:avLst>
          </a:prstGeom>
          <a:solidFill>
            <a:srgbClr val="F6FAF9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69" name="Shape 35">
            <a:extLst>
              <a:ext uri="{FF2B5EF4-FFF2-40B4-BE49-F238E27FC236}">
                <a16:creationId xmlns:a16="http://schemas.microsoft.com/office/drawing/2014/main" id="{5697CF2B-3010-84A7-37D2-25919CE54F75}"/>
              </a:ext>
            </a:extLst>
          </p:cNvPr>
          <p:cNvSpPr>
            <a:spLocks noGrp="1"/>
          </p:cNvSpPr>
          <p:nvPr/>
        </p:nvSpPr>
        <p:spPr>
          <a:xfrm>
            <a:off x="8398932" y="2076449"/>
            <a:ext cx="61913" cy="1014179"/>
          </a:xfrm>
          <a:prstGeom prst="rect">
            <a:avLst/>
          </a:prstGeom>
          <a:solidFill>
            <a:srgbClr val="EA926B"/>
          </a:solidFill>
          <a:ln w="10160">
            <a:solidFill>
              <a:srgbClr val="EA92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DBB51E17-E2BE-0148-7BAD-C7A5968EB6F6}"/>
              </a:ext>
            </a:extLst>
          </p:cNvPr>
          <p:cNvSpPr>
            <a:spLocks noGrp="1"/>
          </p:cNvSpPr>
          <p:nvPr/>
        </p:nvSpPr>
        <p:spPr>
          <a:xfrm>
            <a:off x="8560857" y="2190750"/>
            <a:ext cx="2952750" cy="2476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238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pipeline_runs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7961EAFC-1505-D1C8-ED21-D18850444F16}"/>
              </a:ext>
            </a:extLst>
          </p:cNvPr>
          <p:cNvSpPr>
            <a:spLocks noGrp="1"/>
          </p:cNvSpPr>
          <p:nvPr/>
        </p:nvSpPr>
        <p:spPr>
          <a:xfrm>
            <a:off x="8560857" y="2486025"/>
            <a:ext cx="2952750" cy="18097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65" b="1">
                <a:solidFill>
                  <a:srgbClr val="E88967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E88967"/>
                </a:solidFill>
                <a:latin typeface="+mn-ea"/>
                <a:ea typeface="+mn-ea"/>
                <a:cs typeface="NanumSquare"/>
              </a:rPr>
              <a:t>PK  </a:t>
            </a:r>
            <a:r>
              <a:rPr sz="1100" b="1" dirty="0" err="1">
                <a:solidFill>
                  <a:srgbClr val="E88967"/>
                </a:solidFill>
                <a:latin typeface="+mn-ea"/>
                <a:ea typeface="+mn-ea"/>
                <a:cs typeface="NanumSquare"/>
              </a:rPr>
              <a:t>run_id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75" name="Text 38">
            <a:extLst>
              <a:ext uri="{FF2B5EF4-FFF2-40B4-BE49-F238E27FC236}">
                <a16:creationId xmlns:a16="http://schemas.microsoft.com/office/drawing/2014/main" id="{2446471C-43BB-3695-5C29-11D3AD15FDE4}"/>
              </a:ext>
            </a:extLst>
          </p:cNvPr>
          <p:cNvSpPr>
            <a:spLocks noGrp="1"/>
          </p:cNvSpPr>
          <p:nvPr/>
        </p:nvSpPr>
        <p:spPr>
          <a:xfrm>
            <a:off x="8560857" y="2695575"/>
            <a:ext cx="29527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수집·계산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실행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이력</a:t>
            </a:r>
            <a:endParaRPr sz="1100" dirty="0">
              <a:latin typeface="+mn-ea"/>
              <a:ea typeface="+mn-ea"/>
            </a:endParaRPr>
          </a:p>
          <a:p>
            <a:pPr marL="0" indent="0" algn="l">
              <a:buNone/>
              <a:defRPr sz="73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: </a:t>
            </a:r>
            <a:r>
              <a:rPr sz="1100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manual/schedule · success/failed · rows/error</a:t>
            </a:r>
            <a:endParaRPr sz="1100" dirty="0">
              <a:latin typeface="+mn-ea"/>
              <a:ea typeface="+mn-ea"/>
            </a:endParaRPr>
          </a:p>
        </p:txBody>
      </p:sp>
      <p:sp>
        <p:nvSpPr>
          <p:cNvPr id="77" name="schema-section-label">
            <a:extLst>
              <a:ext uri="{FF2B5EF4-FFF2-40B4-BE49-F238E27FC236}">
                <a16:creationId xmlns:a16="http://schemas.microsoft.com/office/drawing/2014/main" id="{7D8DB0DA-853D-1A1B-2B60-391E7383A1CD}"/>
              </a:ext>
            </a:extLst>
          </p:cNvPr>
          <p:cNvSpPr>
            <a:spLocks noGrp="1"/>
          </p:cNvSpPr>
          <p:nvPr/>
        </p:nvSpPr>
        <p:spPr>
          <a:xfrm>
            <a:off x="571500" y="1762124"/>
            <a:ext cx="3829050" cy="2148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6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40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TABLE RELATIONSHIPS · DATA FLOW</a:t>
            </a:r>
          </a:p>
        </p:txBody>
      </p:sp>
      <p:sp>
        <p:nvSpPr>
          <p:cNvPr id="79" name="schema-legend">
            <a:extLst>
              <a:ext uri="{FF2B5EF4-FFF2-40B4-BE49-F238E27FC236}">
                <a16:creationId xmlns:a16="http://schemas.microsoft.com/office/drawing/2014/main" id="{1440EB7A-51B1-9C09-74DE-38E09C1293F9}"/>
              </a:ext>
            </a:extLst>
          </p:cNvPr>
          <p:cNvSpPr>
            <a:spLocks noGrp="1"/>
          </p:cNvSpPr>
          <p:nvPr/>
        </p:nvSpPr>
        <p:spPr>
          <a:xfrm>
            <a:off x="7161963" y="1762125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71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713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초록</a:t>
            </a:r>
            <a:r>
              <a:rPr sz="713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713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화살표</a:t>
            </a:r>
            <a:r>
              <a:rPr sz="713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: </a:t>
            </a:r>
            <a:r>
              <a:rPr sz="713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계산·저장</a:t>
            </a:r>
            <a:r>
              <a:rPr sz="713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713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흐름</a:t>
            </a:r>
            <a:r>
              <a:rPr sz="713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  |   </a:t>
            </a:r>
            <a:r>
              <a:rPr sz="713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회색</a:t>
            </a:r>
            <a:r>
              <a:rPr sz="713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713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연결선</a:t>
            </a:r>
            <a:r>
              <a:rPr sz="713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: PK/FK </a:t>
            </a:r>
            <a:r>
              <a:rPr sz="713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참조</a:t>
            </a:r>
            <a:r>
              <a:rPr lang="ko-KR" altLang="en-US" sz="713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관계</a:t>
            </a:r>
            <a:endParaRPr sz="713" dirty="0">
              <a:solidFill>
                <a:srgbClr val="6F8790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81" name="fk-label-1">
            <a:extLst>
              <a:ext uri="{FF2B5EF4-FFF2-40B4-BE49-F238E27FC236}">
                <a16:creationId xmlns:a16="http://schemas.microsoft.com/office/drawing/2014/main" id="{664F5F8E-F7C8-1723-2972-01A1CE92D5B0}"/>
              </a:ext>
            </a:extLst>
          </p:cNvPr>
          <p:cNvSpPr>
            <a:spLocks noGrp="1"/>
          </p:cNvSpPr>
          <p:nvPr/>
        </p:nvSpPr>
        <p:spPr>
          <a:xfrm>
            <a:off x="1242836" y="3182409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FK code</a:t>
            </a:r>
            <a:r>
              <a:rPr lang="en-US"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(</a:t>
            </a:r>
            <a:r>
              <a:rPr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1:N</a:t>
            </a:r>
            <a:r>
              <a:rPr lang="en-US"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)</a:t>
            </a:r>
            <a:endParaRPr sz="1100" b="1" dirty="0">
              <a:solidFill>
                <a:srgbClr val="6F8790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85" name="fk-label-3">
            <a:extLst>
              <a:ext uri="{FF2B5EF4-FFF2-40B4-BE49-F238E27FC236}">
                <a16:creationId xmlns:a16="http://schemas.microsoft.com/office/drawing/2014/main" id="{10977CB3-79F3-5626-5322-AC087E99CE8A}"/>
              </a:ext>
            </a:extLst>
          </p:cNvPr>
          <p:cNvSpPr>
            <a:spLocks noGrp="1"/>
          </p:cNvSpPr>
          <p:nvPr/>
        </p:nvSpPr>
        <p:spPr>
          <a:xfrm>
            <a:off x="10079564" y="3199344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FK </a:t>
            </a:r>
            <a:r>
              <a:rPr sz="1100" b="1" dirty="0" err="1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run_id</a:t>
            </a:r>
            <a:r>
              <a:rPr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</a:t>
            </a:r>
            <a:r>
              <a:rPr lang="en-US" sz="1100" dirty="0">
                <a:latin typeface="+mn-ea"/>
                <a:ea typeface="+mn-ea"/>
              </a:rPr>
              <a:t>(</a:t>
            </a:r>
            <a:r>
              <a:rPr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1:N</a:t>
            </a:r>
            <a:r>
              <a:rPr lang="en-US"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)</a:t>
            </a:r>
            <a:endParaRPr sz="1100" b="1" dirty="0">
              <a:solidFill>
                <a:srgbClr val="6F8790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91" name="flow-label-1">
            <a:extLst>
              <a:ext uri="{FF2B5EF4-FFF2-40B4-BE49-F238E27FC236}">
                <a16:creationId xmlns:a16="http://schemas.microsoft.com/office/drawing/2014/main" id="{41B2B4D7-00C9-4A91-9EF6-FE220901F430}"/>
              </a:ext>
            </a:extLst>
          </p:cNvPr>
          <p:cNvSpPr>
            <a:spLocks noGrp="1"/>
          </p:cNvSpPr>
          <p:nvPr/>
        </p:nvSpPr>
        <p:spPr>
          <a:xfrm>
            <a:off x="3253752" y="3681618"/>
            <a:ext cx="1378670" cy="3312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scoring.py</a:t>
            </a:r>
            <a:endParaRPr lang="en-US" sz="1100" dirty="0">
              <a:latin typeface="+mn-ea"/>
              <a:ea typeface="+mn-ea"/>
            </a:endParaRPr>
          </a:p>
          <a:p>
            <a: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lang="en-US" sz="1100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(</a:t>
            </a:r>
            <a:r>
              <a:rPr sz="1100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변환→백분위→점수</a:t>
            </a:r>
            <a:r>
              <a:rPr lang="en-US" sz="1100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)</a:t>
            </a:r>
            <a:endParaRPr sz="1100" dirty="0">
              <a:solidFill>
                <a:srgbClr val="089474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97" name="flow-label-2">
            <a:extLst>
              <a:ext uri="{FF2B5EF4-FFF2-40B4-BE49-F238E27FC236}">
                <a16:creationId xmlns:a16="http://schemas.microsoft.com/office/drawing/2014/main" id="{C17A043A-3790-013E-AD09-09D1D64A631F}"/>
              </a:ext>
            </a:extLst>
          </p:cNvPr>
          <p:cNvSpPr>
            <a:spLocks noGrp="1"/>
          </p:cNvSpPr>
          <p:nvPr/>
        </p:nvSpPr>
        <p:spPr>
          <a:xfrm>
            <a:off x="7252478" y="3715282"/>
            <a:ext cx="1077913" cy="3079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5개 </a:t>
            </a:r>
            <a:r>
              <a:rPr lang="ko-KR" altLang="en-US" sz="1100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지</a:t>
            </a:r>
            <a:r>
              <a:rPr sz="1100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표 </a:t>
            </a:r>
            <a:r>
              <a:rPr sz="1100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공통일</a:t>
            </a:r>
            <a:endParaRPr lang="en-US" sz="1100" dirty="0">
              <a:latin typeface="+mn-ea"/>
              <a:ea typeface="+mn-ea"/>
            </a:endParaRPr>
          </a:p>
          <a:p>
            <a:pPr algn="ctr">
              <a:defRPr sz="653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→ </a:t>
            </a:r>
            <a:r>
              <a:rPr sz="1100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일별</a:t>
            </a:r>
            <a:r>
              <a:rPr sz="1100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점수</a:t>
            </a:r>
            <a:endParaRPr sz="1100" dirty="0">
              <a:solidFill>
                <a:srgbClr val="089474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99" name="op-card-1">
            <a:extLst>
              <a:ext uri="{FF2B5EF4-FFF2-40B4-BE49-F238E27FC236}">
                <a16:creationId xmlns:a16="http://schemas.microsoft.com/office/drawing/2014/main" id="{2BD69C14-4E7C-2F46-621B-C206BBC62DE5}"/>
              </a:ext>
            </a:extLst>
          </p:cNvPr>
          <p:cNvSpPr>
            <a:spLocks noGrp="1"/>
          </p:cNvSpPr>
          <p:nvPr/>
        </p:nvSpPr>
        <p:spPr>
          <a:xfrm>
            <a:off x="571500" y="4743450"/>
            <a:ext cx="3441888" cy="685800"/>
          </a:xfrm>
          <a:prstGeom prst="roundRect">
            <a:avLst>
              <a:gd name="adj" fmla="val 13889"/>
            </a:avLst>
          </a:prstGeom>
          <a:solidFill>
            <a:srgbClr val="EAF4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1" name="op-title-1">
            <a:extLst>
              <a:ext uri="{FF2B5EF4-FFF2-40B4-BE49-F238E27FC236}">
                <a16:creationId xmlns:a16="http://schemas.microsoft.com/office/drawing/2014/main" id="{73309053-170D-F181-78BC-D33DBAB5988D}"/>
              </a:ext>
            </a:extLst>
          </p:cNvPr>
          <p:cNvSpPr>
            <a:spLocks noGrp="1"/>
          </p:cNvSpPr>
          <p:nvPr/>
        </p:nvSpPr>
        <p:spPr>
          <a:xfrm>
            <a:off x="784227" y="4857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무결성·중복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방지</a:t>
            </a:r>
            <a:endParaRPr sz="1200" b="1" dirty="0">
              <a:solidFill>
                <a:srgbClr val="183542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103" name="op-body-1">
            <a:extLst>
              <a:ext uri="{FF2B5EF4-FFF2-40B4-BE49-F238E27FC236}">
                <a16:creationId xmlns:a16="http://schemas.microsoft.com/office/drawing/2014/main" id="{F2B01EAA-CB01-148E-BF85-CFF85D197892}"/>
              </a:ext>
            </a:extLst>
          </p:cNvPr>
          <p:cNvSpPr>
            <a:spLocks noGrp="1"/>
          </p:cNvSpPr>
          <p:nvPr/>
        </p:nvSpPr>
        <p:spPr>
          <a:xfrm>
            <a:off x="784227" y="5143500"/>
            <a:ext cx="2905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복합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PK/FK · </a:t>
            </a: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같은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지표·날짜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1행</a:t>
            </a:r>
          </a:p>
        </p:txBody>
      </p:sp>
      <p:sp>
        <p:nvSpPr>
          <p:cNvPr id="107" name="op-title-2">
            <a:extLst>
              <a:ext uri="{FF2B5EF4-FFF2-40B4-BE49-F238E27FC236}">
                <a16:creationId xmlns:a16="http://schemas.microsoft.com/office/drawing/2014/main" id="{67FDBCF4-39B0-E4B0-6A3E-CA9BA871F4DA}"/>
              </a:ext>
            </a:extLst>
          </p:cNvPr>
          <p:cNvSpPr>
            <a:spLocks noGrp="1"/>
          </p:cNvSpPr>
          <p:nvPr/>
        </p:nvSpPr>
        <p:spPr>
          <a:xfrm>
            <a:off x="4651375" y="4832349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재실행·장애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대응</a:t>
            </a:r>
            <a:endParaRPr sz="1200" b="1" dirty="0">
              <a:solidFill>
                <a:srgbClr val="183542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109" name="op-body-2">
            <a:extLst>
              <a:ext uri="{FF2B5EF4-FFF2-40B4-BE49-F238E27FC236}">
                <a16:creationId xmlns:a16="http://schemas.microsoft.com/office/drawing/2014/main" id="{3FD84828-EE1E-5FC2-CD47-8FDCA88579D8}"/>
              </a:ext>
            </a:extLst>
          </p:cNvPr>
          <p:cNvSpPr>
            <a:spLocks noGrp="1"/>
          </p:cNvSpPr>
          <p:nvPr/>
        </p:nvSpPr>
        <p:spPr>
          <a:xfrm>
            <a:off x="4651375" y="5118099"/>
            <a:ext cx="2905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최근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14일 </a:t>
            </a: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재수집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+ </a:t>
            </a: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upsert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· </a:t>
            </a: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실패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시 rollback</a:t>
            </a:r>
          </a:p>
        </p:txBody>
      </p:sp>
      <p:sp>
        <p:nvSpPr>
          <p:cNvPr id="113" name="op-title-3">
            <a:extLst>
              <a:ext uri="{FF2B5EF4-FFF2-40B4-BE49-F238E27FC236}">
                <a16:creationId xmlns:a16="http://schemas.microsoft.com/office/drawing/2014/main" id="{02387DAE-406C-F4A1-F9FC-709DFA212784}"/>
              </a:ext>
            </a:extLst>
          </p:cNvPr>
          <p:cNvSpPr>
            <a:spLocks noGrp="1"/>
          </p:cNvSpPr>
          <p:nvPr/>
        </p:nvSpPr>
        <p:spPr>
          <a:xfrm>
            <a:off x="8459260" y="4857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982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접근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제어·조회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분리</a:t>
            </a:r>
            <a:endParaRPr sz="1200" b="1" dirty="0">
              <a:solidFill>
                <a:srgbClr val="183542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115" name="op-body-3">
            <a:extLst>
              <a:ext uri="{FF2B5EF4-FFF2-40B4-BE49-F238E27FC236}">
                <a16:creationId xmlns:a16="http://schemas.microsoft.com/office/drawing/2014/main" id="{54E636F7-B1BE-4EA2-305F-B7D9005E6981}"/>
              </a:ext>
            </a:extLst>
          </p:cNvPr>
          <p:cNvSpPr>
            <a:spLocks noGrp="1"/>
          </p:cNvSpPr>
          <p:nvPr/>
        </p:nvSpPr>
        <p:spPr>
          <a:xfrm>
            <a:off x="8459260" y="5143500"/>
            <a:ext cx="2905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728">
                <a:solidFill>
                  <a:srgbClr val="34505B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5개 </a:t>
            </a: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테이블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RLS · </a:t>
            </a: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FastAPI는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읽기</a:t>
            </a:r>
            <a:r>
              <a:rPr sz="1100" dirty="0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100" dirty="0" err="1">
                <a:solidFill>
                  <a:srgbClr val="34505B"/>
                </a:solidFill>
                <a:latin typeface="+mn-ea"/>
                <a:ea typeface="+mn-ea"/>
                <a:cs typeface="NanumSquare"/>
              </a:rPr>
              <a:t>전용</a:t>
            </a:r>
            <a:endParaRPr sz="1100" dirty="0">
              <a:solidFill>
                <a:srgbClr val="34505B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117" name="principle-card">
            <a:extLst>
              <a:ext uri="{FF2B5EF4-FFF2-40B4-BE49-F238E27FC236}">
                <a16:creationId xmlns:a16="http://schemas.microsoft.com/office/drawing/2014/main" id="{0F238763-BD33-E7DC-424C-AB27CBCF16E7}"/>
              </a:ext>
            </a:extLst>
          </p:cNvPr>
          <p:cNvSpPr>
            <a:spLocks noGrp="1"/>
          </p:cNvSpPr>
          <p:nvPr/>
        </p:nvSpPr>
        <p:spPr>
          <a:xfrm>
            <a:off x="571500" y="5568948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F3F7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19" name="principle-title">
            <a:extLst>
              <a:ext uri="{FF2B5EF4-FFF2-40B4-BE49-F238E27FC236}">
                <a16:creationId xmlns:a16="http://schemas.microsoft.com/office/drawing/2014/main" id="{D1FAD770-FD55-A26B-6516-B1084DAC73B6}"/>
              </a:ext>
            </a:extLst>
          </p:cNvPr>
          <p:cNvSpPr>
            <a:spLocks noGrp="1"/>
          </p:cNvSpPr>
          <p:nvPr/>
        </p:nvSpPr>
        <p:spPr>
          <a:xfrm>
            <a:off x="742950" y="5723467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923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핵심</a:t>
            </a:r>
            <a:r>
              <a:rPr sz="1200" b="1" dirty="0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089474"/>
                </a:solidFill>
                <a:latin typeface="+mn-ea"/>
                <a:ea typeface="+mn-ea"/>
                <a:cs typeface="NanumSquare"/>
              </a:rPr>
              <a:t>원칙</a:t>
            </a:r>
            <a:endParaRPr sz="1200" b="1" dirty="0">
              <a:solidFill>
                <a:srgbClr val="089474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121" name="principle-body">
            <a:extLst>
              <a:ext uri="{FF2B5EF4-FFF2-40B4-BE49-F238E27FC236}">
                <a16:creationId xmlns:a16="http://schemas.microsoft.com/office/drawing/2014/main" id="{E3259FDE-27FB-36D5-C5C5-DF6246D2B6C9}"/>
              </a:ext>
            </a:extLst>
          </p:cNvPr>
          <p:cNvSpPr>
            <a:spLocks noGrp="1"/>
          </p:cNvSpPr>
          <p:nvPr/>
        </p:nvSpPr>
        <p:spPr>
          <a:xfrm>
            <a:off x="1619250" y="5731934"/>
            <a:ext cx="885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90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원본을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보존하고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계산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결과를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저장해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,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사용자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조회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시 FRED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재호출·점수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재계산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없이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즉시</a:t>
            </a:r>
            <a:r>
              <a:rPr sz="1200" b="1" dirty="0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 </a:t>
            </a:r>
            <a:r>
              <a:rPr sz="1200" b="1" dirty="0" err="1">
                <a:solidFill>
                  <a:srgbClr val="183542"/>
                </a:solidFill>
                <a:latin typeface="+mn-ea"/>
                <a:ea typeface="+mn-ea"/>
                <a:cs typeface="NanumSquare"/>
              </a:rPr>
              <a:t>제공</a:t>
            </a:r>
            <a:endParaRPr sz="1200" b="1" dirty="0">
              <a:solidFill>
                <a:srgbClr val="183542"/>
              </a:solidFill>
              <a:latin typeface="+mn-ea"/>
              <a:ea typeface="+mn-ea"/>
              <a:cs typeface="NanumSquare"/>
            </a:endParaRPr>
          </a:p>
        </p:txBody>
      </p:sp>
      <p:sp>
        <p:nvSpPr>
          <p:cNvPr id="123" name="doc-footer">
            <a:extLst>
              <a:ext uri="{FF2B5EF4-FFF2-40B4-BE49-F238E27FC236}">
                <a16:creationId xmlns:a16="http://schemas.microsoft.com/office/drawing/2014/main" id="{3BC619D5-977D-FC2D-2C06-FEDAA56E16D8}"/>
              </a:ext>
            </a:extLst>
          </p:cNvPr>
          <p:cNvSpPr>
            <a:spLocks noGrp="1"/>
          </p:cNvSpPr>
          <p:nvPr/>
        </p:nvSpPr>
        <p:spPr>
          <a:xfrm>
            <a:off x="565685" y="6202386"/>
            <a:ext cx="11108197" cy="4053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  <a:cs typeface="NanumSquare"/>
              </a:rPr>
              <a:t>※ </a:t>
            </a:r>
            <a:r>
              <a:rPr sz="1400" b="1" dirty="0">
                <a:solidFill>
                  <a:schemeClr val="tx1"/>
                </a:solidFill>
                <a:latin typeface="+mn-ea"/>
                <a:ea typeface="+mn-ea"/>
                <a:cs typeface="NanumSquare"/>
              </a:rPr>
              <a:t>DB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테이블</a:t>
            </a:r>
            <a:r>
              <a:rPr sz="1400" b="1" dirty="0" err="1">
                <a:solidFill>
                  <a:schemeClr val="tx1"/>
                </a:solidFill>
                <a:latin typeface="+mn-ea"/>
                <a:ea typeface="+mn-ea"/>
                <a:cs typeface="NanumSquare"/>
              </a:rPr>
              <a:t>문서</a:t>
            </a:r>
            <a:r>
              <a:rPr lang="en-US" sz="1400" b="1" dirty="0">
                <a:solidFill>
                  <a:schemeClr val="tx1"/>
                </a:solidFill>
                <a:latin typeface="+mn-ea"/>
                <a:ea typeface="+mn-ea"/>
                <a:cs typeface="NanumSquare"/>
              </a:rPr>
              <a:t>: </a:t>
            </a:r>
            <a:r>
              <a:rPr lang="en-US" sz="1200" b="1" dirty="0">
                <a:solidFill>
                  <a:schemeClr val="tx1"/>
                </a:solidFill>
                <a:latin typeface="+mn-ea"/>
                <a:ea typeface="+mn-ea"/>
                <a:hlinkClick r:id="rId3"/>
              </a:rPr>
              <a:t>https://github.com/kth6449-ops/team7-stress-dashboard/blob/main/docs/db/DB_%ED%85%8C%EC%9D%B4%EB%B8%94_%EB%AC%B8%EC%84%9C.md</a:t>
            </a:r>
            <a:endParaRPr sz="1200" b="1" dirty="0">
              <a:solidFill>
                <a:schemeClr val="tx1"/>
              </a:solidFill>
              <a:latin typeface="+mn-ea"/>
              <a:ea typeface="+mn-ea"/>
              <a:cs typeface="NanumSquare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C0BBF3F-C7DF-7357-2C24-DB89E89026B8}"/>
              </a:ext>
            </a:extLst>
          </p:cNvPr>
          <p:cNvCxnSpPr>
            <a:cxnSpLocks/>
            <a:stCxn id="37" idx="3"/>
            <a:endCxn id="49" idx="1"/>
          </p:cNvCxnSpPr>
          <p:nvPr/>
        </p:nvCxnSpPr>
        <p:spPr>
          <a:xfrm>
            <a:off x="3210226" y="4038600"/>
            <a:ext cx="1448559" cy="0"/>
          </a:xfrm>
          <a:prstGeom prst="straightConnector1">
            <a:avLst/>
          </a:prstGeom>
          <a:ln>
            <a:solidFill>
              <a:srgbClr val="0894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k-label-1">
            <a:extLst>
              <a:ext uri="{FF2B5EF4-FFF2-40B4-BE49-F238E27FC236}">
                <a16:creationId xmlns:a16="http://schemas.microsoft.com/office/drawing/2014/main" id="{EE774814-07AB-1811-04D1-DBE1F1AF766C}"/>
              </a:ext>
            </a:extLst>
          </p:cNvPr>
          <p:cNvSpPr>
            <a:spLocks noGrp="1"/>
          </p:cNvSpPr>
          <p:nvPr/>
        </p:nvSpPr>
        <p:spPr>
          <a:xfrm>
            <a:off x="4674659" y="2366197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660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FK code</a:t>
            </a:r>
            <a:r>
              <a:rPr lang="en-US"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 (</a:t>
            </a:r>
            <a:r>
              <a:rPr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1:N</a:t>
            </a:r>
            <a:r>
              <a:rPr lang="en-US" sz="1100" b="1" dirty="0">
                <a:solidFill>
                  <a:srgbClr val="6F8790"/>
                </a:solidFill>
                <a:latin typeface="+mn-ea"/>
                <a:ea typeface="+mn-ea"/>
                <a:cs typeface="NanumSquare"/>
              </a:rPr>
              <a:t>)</a:t>
            </a:r>
            <a:endParaRPr sz="1100" b="1" dirty="0">
              <a:solidFill>
                <a:srgbClr val="6F8790"/>
              </a:solidFill>
              <a:latin typeface="+mn-ea"/>
              <a:ea typeface="+mn-ea"/>
              <a:cs typeface="NanumSquare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D3FD738-AC82-0E52-B4B8-0C0059F110F9}"/>
              </a:ext>
            </a:extLst>
          </p:cNvPr>
          <p:cNvCxnSpPr>
            <a:stCxn id="27" idx="3"/>
            <a:endCxn id="47" idx="0"/>
          </p:cNvCxnSpPr>
          <p:nvPr/>
        </p:nvCxnSpPr>
        <p:spPr>
          <a:xfrm>
            <a:off x="3810000" y="2557462"/>
            <a:ext cx="2151329" cy="919163"/>
          </a:xfrm>
          <a:prstGeom prst="bentConnector2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3FBABAA-67A7-CDB2-7521-F4E02B89FF03}"/>
              </a:ext>
            </a:extLst>
          </p:cNvPr>
          <p:cNvCxnSpPr>
            <a:cxnSpLocks/>
            <a:endCxn id="59" idx="1"/>
          </p:cNvCxnSpPr>
          <p:nvPr/>
        </p:nvCxnSpPr>
        <p:spPr>
          <a:xfrm flipV="1">
            <a:off x="7249886" y="4038600"/>
            <a:ext cx="1149046" cy="28576"/>
          </a:xfrm>
          <a:prstGeom prst="straightConnector1">
            <a:avLst/>
          </a:prstGeom>
          <a:ln>
            <a:solidFill>
              <a:srgbClr val="0894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75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 / BACKEND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39912" y="2560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KAIST · CLOUD COMPUTING LAB · TEAM 7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10</a:t>
            </a:r>
            <a:endParaRPr lang="en-US" sz="870" dirty="0"/>
          </a:p>
        </p:txBody>
      </p:sp>
      <p:sp>
        <p:nvSpPr>
          <p:cNvPr id="50" name="footer-links">
            <a:extLst>
              <a:ext uri="{FF2B5EF4-FFF2-40B4-BE49-F238E27FC236}">
                <a16:creationId xmlns:a16="http://schemas.microsoft.com/office/drawing/2014/main" id="{9888F2B0-DDCA-A167-8BBF-E8467210B849}"/>
              </a:ext>
            </a:extLst>
          </p:cNvPr>
          <p:cNvSpPr>
            <a:spLocks noGrp="1"/>
          </p:cNvSpPr>
          <p:nvPr/>
        </p:nvSpPr>
        <p:spPr>
          <a:xfrm>
            <a:off x="658368" y="6086805"/>
            <a:ext cx="10325100" cy="470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※ </a:t>
            </a:r>
            <a:r>
              <a:rPr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API</a:t>
            </a:r>
            <a:r>
              <a:rPr lang="en-US"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lang="ko-KR" altLang="en-US"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설명문서</a:t>
            </a:r>
            <a:r>
              <a:rPr lang="en-US"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:</a:t>
            </a:r>
            <a:r>
              <a:rPr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200" dirty="0">
                <a:solidFill>
                  <a:srgbClr val="1C3541"/>
                </a:solidFill>
                <a:latin typeface="NanumSquare"/>
                <a:ea typeface="NanumSquare"/>
                <a:cs typeface="NanumSquare"/>
                <a:hlinkClick r:id="rId3"/>
              </a:rPr>
              <a:t>github.com/kth6449-ops/team7-stress-dashboard/blob/main/docs/api/API_규격_정의서.md</a:t>
            </a:r>
            <a:r>
              <a:rPr sz="12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endParaRPr lang="en-US" sz="1200" b="1" dirty="0">
              <a:solidFill>
                <a:srgbClr val="1C3541"/>
              </a:solidFill>
              <a:latin typeface="NanumSquare"/>
              <a:ea typeface="NanumSquare"/>
              <a:cs typeface="NanumSquare"/>
            </a:endParaRPr>
          </a:p>
          <a:p>
            <a:pPr>
              <a:defRPr sz="750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※ </a:t>
            </a:r>
            <a:r>
              <a:rPr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Swagger</a:t>
            </a:r>
            <a:r>
              <a:rPr lang="en-US"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UI </a:t>
            </a:r>
            <a:r>
              <a:rPr lang="ko-KR" altLang="en-US"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주소</a:t>
            </a:r>
            <a:r>
              <a:rPr lang="en-US"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:</a:t>
            </a:r>
            <a:r>
              <a:rPr sz="1400" b="1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lang="en-US" altLang="ko-KR" sz="1200" dirty="0">
                <a:hlinkClick r:id="rId4"/>
              </a:rPr>
              <a:t>https://team7-stress-dashboard.onrender.com/docs</a:t>
            </a:r>
            <a:endParaRPr sz="1200" dirty="0">
              <a:solidFill>
                <a:srgbClr val="1C3541"/>
              </a:solidFill>
              <a:latin typeface="NanumSquare"/>
              <a:ea typeface="NanumSquare"/>
              <a:cs typeface="NanumSquare"/>
              <a:hlinkClick r:id="rId5"/>
            </a:endParaRPr>
          </a:p>
        </p:txBody>
      </p:sp>
      <p:sp>
        <p:nvSpPr>
          <p:cNvPr id="52" name="slide-title">
            <a:extLst>
              <a:ext uri="{FF2B5EF4-FFF2-40B4-BE49-F238E27FC236}">
                <a16:creationId xmlns:a16="http://schemas.microsoft.com/office/drawing/2014/main" id="{09D563D5-0545-DF52-3AE2-78C353C1C101}"/>
              </a:ext>
            </a:extLst>
          </p:cNvPr>
          <p:cNvSpPr>
            <a:spLocks noGrp="1"/>
          </p:cNvSpPr>
          <p:nvPr/>
        </p:nvSpPr>
        <p:spPr>
          <a:xfrm>
            <a:off x="575734" y="714375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24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pPr>
            <a:r>
              <a:rPr sz="2700" b="1" dirty="0" err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저장된</a:t>
            </a:r>
            <a:r>
              <a:rPr sz="2700" b="1" dirty="0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 DB </a:t>
            </a:r>
            <a:r>
              <a:rPr sz="2700" b="1" dirty="0" err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결과를</a:t>
            </a:r>
            <a:r>
              <a:rPr sz="2700" b="1" dirty="0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FastAPI</a:t>
            </a:r>
            <a:r>
              <a:rPr sz="2700" b="1" dirty="0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조회</a:t>
            </a:r>
            <a:r>
              <a:rPr sz="2700" b="1" dirty="0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API로</a:t>
            </a:r>
            <a:r>
              <a:rPr sz="2700" b="1" dirty="0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2700" b="1" dirty="0" err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제공</a:t>
            </a:r>
            <a:endParaRPr sz="2700" b="1" dirty="0">
              <a:solidFill>
                <a:srgbClr val="163847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54" name="slide-subtitle">
            <a:extLst>
              <a:ext uri="{FF2B5EF4-FFF2-40B4-BE49-F238E27FC236}">
                <a16:creationId xmlns:a16="http://schemas.microsoft.com/office/drawing/2014/main" id="{7230E438-FFFC-30B5-7099-C5A47624F25D}"/>
              </a:ext>
            </a:extLst>
          </p:cNvPr>
          <p:cNvSpPr>
            <a:spLocks noGrp="1"/>
          </p:cNvSpPr>
          <p:nvPr/>
        </p:nvSpPr>
        <p:spPr>
          <a:xfrm>
            <a:off x="626533" y="1257300"/>
            <a:ext cx="809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050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pPr>
            <a:r>
              <a:rPr sz="105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GET </a:t>
            </a:r>
            <a:r>
              <a:rPr sz="105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기반</a:t>
            </a:r>
            <a:r>
              <a:rPr sz="105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5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읽기</a:t>
            </a:r>
            <a:r>
              <a:rPr sz="105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5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전용</a:t>
            </a:r>
            <a:r>
              <a:rPr sz="105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 API · </a:t>
            </a:r>
            <a:r>
              <a:rPr sz="105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표준</a:t>
            </a:r>
            <a:r>
              <a:rPr sz="105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 JSON </a:t>
            </a:r>
            <a:r>
              <a:rPr sz="105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응답</a:t>
            </a:r>
            <a:r>
              <a:rPr sz="105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 · </a:t>
            </a:r>
            <a:r>
              <a:rPr sz="105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상태·오류·결측</a:t>
            </a:r>
            <a:r>
              <a:rPr sz="105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5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분리</a:t>
            </a:r>
            <a:endParaRPr sz="1050" dirty="0">
              <a:solidFill>
                <a:srgbClr val="718995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58" name="top-rule">
            <a:extLst>
              <a:ext uri="{FF2B5EF4-FFF2-40B4-BE49-F238E27FC236}">
                <a16:creationId xmlns:a16="http://schemas.microsoft.com/office/drawing/2014/main" id="{E8C710F8-38E4-BEB8-B395-4C7224078D2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820400" cy="0"/>
          </a:xfrm>
          <a:prstGeom prst="line">
            <a:avLst/>
          </a:prstGeom>
          <a:noFill/>
          <a:ln w="9525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endpoint-card">
            <a:extLst>
              <a:ext uri="{FF2B5EF4-FFF2-40B4-BE49-F238E27FC236}">
                <a16:creationId xmlns:a16="http://schemas.microsoft.com/office/drawing/2014/main" id="{AC90612F-BC39-27E6-F828-A2E2B2EEB81C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5429250" cy="3276600"/>
          </a:xfrm>
          <a:prstGeom prst="roundRect">
            <a:avLst>
              <a:gd name="adj" fmla="val 3488"/>
            </a:avLst>
          </a:prstGeom>
          <a:solidFill>
            <a:srgbClr val="F5F9F8"/>
          </a:solidFill>
          <a:ln w="9525">
            <a:solidFill>
              <a:srgbClr val="D4E3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endpoint-heading">
            <a:extLst>
              <a:ext uri="{FF2B5EF4-FFF2-40B4-BE49-F238E27FC236}">
                <a16:creationId xmlns:a16="http://schemas.microsoft.com/office/drawing/2014/main" id="{BC033A27-02DE-CA04-804A-FB5B6819738A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200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 err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조회</a:t>
            </a:r>
            <a:r>
              <a:rPr sz="1200" b="1" dirty="0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200" b="1" dirty="0" err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엔드포인트</a:t>
            </a:r>
            <a:endParaRPr sz="1200" b="1" dirty="0">
              <a:solidFill>
                <a:srgbClr val="163847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64" name="endpoint-heading-note">
            <a:extLst>
              <a:ext uri="{FF2B5EF4-FFF2-40B4-BE49-F238E27FC236}">
                <a16:creationId xmlns:a16="http://schemas.microsoft.com/office/drawing/2014/main" id="{88897ED9-36B3-257F-D2DA-C15B8AA1DC0E}"/>
              </a:ext>
            </a:extLst>
          </p:cNvPr>
          <p:cNvSpPr>
            <a:spLocks noGrp="1"/>
          </p:cNvSpPr>
          <p:nvPr/>
        </p:nvSpPr>
        <p:spPr>
          <a:xfrm>
            <a:off x="3352800" y="1962151"/>
            <a:ext cx="2600325" cy="2571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78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모든</a:t>
            </a:r>
            <a:r>
              <a:rPr sz="110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요청은</a:t>
            </a:r>
            <a:r>
              <a:rPr sz="110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 GET · </a:t>
            </a:r>
            <a:r>
              <a:rPr sz="110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응답은</a:t>
            </a:r>
            <a:r>
              <a:rPr sz="1100" dirty="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 application/</a:t>
            </a:r>
            <a:r>
              <a:rPr sz="1100" dirty="0" err="1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json</a:t>
            </a:r>
            <a:endParaRPr sz="1100" dirty="0">
              <a:solidFill>
                <a:srgbClr val="718995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66" name="endpoint-head-rule">
            <a:extLst>
              <a:ext uri="{FF2B5EF4-FFF2-40B4-BE49-F238E27FC236}">
                <a16:creationId xmlns:a16="http://schemas.microsoft.com/office/drawing/2014/main" id="{FEFBF7B3-58B8-DD56-0932-3A7D165985CE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4953000" cy="0"/>
          </a:xfrm>
          <a:prstGeom prst="line">
            <a:avLst/>
          </a:prstGeom>
          <a:noFill/>
          <a:ln w="9525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68" name="get-pill-1">
            <a:extLst>
              <a:ext uri="{FF2B5EF4-FFF2-40B4-BE49-F238E27FC236}">
                <a16:creationId xmlns:a16="http://schemas.microsoft.com/office/drawing/2014/main" id="{850272E3-1CC3-EFD6-90D7-C4C8176C12F0}"/>
              </a:ext>
            </a:extLst>
          </p:cNvPr>
          <p:cNvSpPr>
            <a:spLocks noGrp="1"/>
          </p:cNvSpPr>
          <p:nvPr/>
        </p:nvSpPr>
        <p:spPr>
          <a:xfrm>
            <a:off x="990600" y="2419350"/>
            <a:ext cx="495300" cy="257175"/>
          </a:xfrm>
          <a:prstGeom prst="roundRect">
            <a:avLst>
              <a:gd name="adj" fmla="val 29630"/>
            </a:avLst>
          </a:prstGeom>
          <a:solidFill>
            <a:srgbClr val="E8F5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70" name="get-label-1">
            <a:extLst>
              <a:ext uri="{FF2B5EF4-FFF2-40B4-BE49-F238E27FC236}">
                <a16:creationId xmlns:a16="http://schemas.microsoft.com/office/drawing/2014/main" id="{1F70DCE5-1A30-AD32-9624-5D89ED9B72C5}"/>
              </a:ext>
            </a:extLst>
          </p:cNvPr>
          <p:cNvSpPr>
            <a:spLocks noGrp="1"/>
          </p:cNvSpPr>
          <p:nvPr/>
        </p:nvSpPr>
        <p:spPr>
          <a:xfrm>
            <a:off x="990600" y="2419350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GET</a:t>
            </a:r>
          </a:p>
        </p:txBody>
      </p:sp>
      <p:sp>
        <p:nvSpPr>
          <p:cNvPr id="72" name="endpoint-1">
            <a:extLst>
              <a:ext uri="{FF2B5EF4-FFF2-40B4-BE49-F238E27FC236}">
                <a16:creationId xmlns:a16="http://schemas.microsoft.com/office/drawing/2014/main" id="{2D75FC0C-D1D5-500F-0C93-62AB905541CB}"/>
              </a:ext>
            </a:extLst>
          </p:cNvPr>
          <p:cNvSpPr>
            <a:spLocks noGrp="1"/>
          </p:cNvSpPr>
          <p:nvPr/>
        </p:nvSpPr>
        <p:spPr>
          <a:xfrm>
            <a:off x="1657350" y="2400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 dirty="0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/health</a:t>
            </a:r>
          </a:p>
        </p:txBody>
      </p:sp>
      <p:sp>
        <p:nvSpPr>
          <p:cNvPr id="74" name="endpoint-desc-1">
            <a:extLst>
              <a:ext uri="{FF2B5EF4-FFF2-40B4-BE49-F238E27FC236}">
                <a16:creationId xmlns:a16="http://schemas.microsoft.com/office/drawing/2014/main" id="{24F43EAF-4211-103A-D039-32E646964420}"/>
              </a:ext>
            </a:extLst>
          </p:cNvPr>
          <p:cNvSpPr>
            <a:spLocks noGrp="1"/>
          </p:cNvSpPr>
          <p:nvPr/>
        </p:nvSpPr>
        <p:spPr>
          <a:xfrm>
            <a:off x="3543300" y="24003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서버·데이터 갱신 상태</a:t>
            </a:r>
          </a:p>
        </p:txBody>
      </p:sp>
      <p:sp>
        <p:nvSpPr>
          <p:cNvPr id="76" name="row-rule-1">
            <a:extLst>
              <a:ext uri="{FF2B5EF4-FFF2-40B4-BE49-F238E27FC236}">
                <a16:creationId xmlns:a16="http://schemas.microsoft.com/office/drawing/2014/main" id="{B9E6D5FE-F0AE-1486-5D8C-0966BFF74AF2}"/>
              </a:ext>
            </a:extLst>
          </p:cNvPr>
          <p:cNvSpPr>
            <a:spLocks noGrp="1"/>
          </p:cNvSpPr>
          <p:nvPr/>
        </p:nvSpPr>
        <p:spPr>
          <a:xfrm>
            <a:off x="990600" y="2781300"/>
            <a:ext cx="4953000" cy="0"/>
          </a:xfrm>
          <a:prstGeom prst="line">
            <a:avLst/>
          </a:prstGeom>
          <a:noFill/>
          <a:ln w="9525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78" name="get-pill-2">
            <a:extLst>
              <a:ext uri="{FF2B5EF4-FFF2-40B4-BE49-F238E27FC236}">
                <a16:creationId xmlns:a16="http://schemas.microsoft.com/office/drawing/2014/main" id="{BAFDC989-3317-F162-5166-64B4EEE7348C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495300" cy="257175"/>
          </a:xfrm>
          <a:prstGeom prst="roundRect">
            <a:avLst>
              <a:gd name="adj" fmla="val 29630"/>
            </a:avLst>
          </a:prstGeom>
          <a:solidFill>
            <a:srgbClr val="E8F5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80" name="get-label-2">
            <a:extLst>
              <a:ext uri="{FF2B5EF4-FFF2-40B4-BE49-F238E27FC236}">
                <a16:creationId xmlns:a16="http://schemas.microsoft.com/office/drawing/2014/main" id="{D2860C1B-F4A0-4D1A-64D6-DD0A2F2C4B59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GET</a:t>
            </a:r>
          </a:p>
        </p:txBody>
      </p:sp>
      <p:sp>
        <p:nvSpPr>
          <p:cNvPr id="82" name="endpoint-2">
            <a:extLst>
              <a:ext uri="{FF2B5EF4-FFF2-40B4-BE49-F238E27FC236}">
                <a16:creationId xmlns:a16="http://schemas.microsoft.com/office/drawing/2014/main" id="{4DBE5F18-04DD-403B-B7B6-30E8B8BEA2ED}"/>
              </a:ext>
            </a:extLst>
          </p:cNvPr>
          <p:cNvSpPr>
            <a:spLocks noGrp="1"/>
          </p:cNvSpPr>
          <p:nvPr/>
        </p:nvSpPr>
        <p:spPr>
          <a:xfrm>
            <a:off x="1657350" y="2838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/scores/latest</a:t>
            </a:r>
          </a:p>
        </p:txBody>
      </p:sp>
      <p:sp>
        <p:nvSpPr>
          <p:cNvPr id="84" name="endpoint-desc-2">
            <a:extLst>
              <a:ext uri="{FF2B5EF4-FFF2-40B4-BE49-F238E27FC236}">
                <a16:creationId xmlns:a16="http://schemas.microsoft.com/office/drawing/2014/main" id="{48FA3C62-0AA9-C8C4-0FCA-0DBFF168B602}"/>
              </a:ext>
            </a:extLst>
          </p:cNvPr>
          <p:cNvSpPr>
            <a:spLocks noGrp="1"/>
          </p:cNvSpPr>
          <p:nvPr/>
        </p:nvSpPr>
        <p:spPr>
          <a:xfrm>
            <a:off x="3543300" y="28384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최신 종합점수·위험단계·기여도</a:t>
            </a:r>
          </a:p>
        </p:txBody>
      </p:sp>
      <p:sp>
        <p:nvSpPr>
          <p:cNvPr id="86" name="row-rule-2">
            <a:extLst>
              <a:ext uri="{FF2B5EF4-FFF2-40B4-BE49-F238E27FC236}">
                <a16:creationId xmlns:a16="http://schemas.microsoft.com/office/drawing/2014/main" id="{6075199D-5ADA-EC8B-B9CF-FD3F72210483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4953000" cy="0"/>
          </a:xfrm>
          <a:prstGeom prst="line">
            <a:avLst/>
          </a:prstGeom>
          <a:noFill/>
          <a:ln w="9525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88" name="get-pill-3">
            <a:extLst>
              <a:ext uri="{FF2B5EF4-FFF2-40B4-BE49-F238E27FC236}">
                <a16:creationId xmlns:a16="http://schemas.microsoft.com/office/drawing/2014/main" id="{BDF8D210-8DF8-7FF8-79D2-E64F1BF9CCB0}"/>
              </a:ext>
            </a:extLst>
          </p:cNvPr>
          <p:cNvSpPr>
            <a:spLocks noGrp="1"/>
          </p:cNvSpPr>
          <p:nvPr/>
        </p:nvSpPr>
        <p:spPr>
          <a:xfrm>
            <a:off x="990600" y="3295650"/>
            <a:ext cx="495300" cy="257175"/>
          </a:xfrm>
          <a:prstGeom prst="roundRect">
            <a:avLst>
              <a:gd name="adj" fmla="val 29630"/>
            </a:avLst>
          </a:prstGeom>
          <a:solidFill>
            <a:srgbClr val="E8F5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90" name="get-label-3">
            <a:extLst>
              <a:ext uri="{FF2B5EF4-FFF2-40B4-BE49-F238E27FC236}">
                <a16:creationId xmlns:a16="http://schemas.microsoft.com/office/drawing/2014/main" id="{56EEDD37-44D3-EB8A-E502-269EA68B6ED7}"/>
              </a:ext>
            </a:extLst>
          </p:cNvPr>
          <p:cNvSpPr>
            <a:spLocks noGrp="1"/>
          </p:cNvSpPr>
          <p:nvPr/>
        </p:nvSpPr>
        <p:spPr>
          <a:xfrm>
            <a:off x="990600" y="3295650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GET</a:t>
            </a:r>
          </a:p>
        </p:txBody>
      </p:sp>
      <p:sp>
        <p:nvSpPr>
          <p:cNvPr id="92" name="endpoint-3">
            <a:extLst>
              <a:ext uri="{FF2B5EF4-FFF2-40B4-BE49-F238E27FC236}">
                <a16:creationId xmlns:a16="http://schemas.microsoft.com/office/drawing/2014/main" id="{ED319BEA-0138-6780-C2F6-60A53D517AC1}"/>
              </a:ext>
            </a:extLst>
          </p:cNvPr>
          <p:cNvSpPr>
            <a:spLocks noGrp="1"/>
          </p:cNvSpPr>
          <p:nvPr/>
        </p:nvSpPr>
        <p:spPr>
          <a:xfrm>
            <a:off x="1657350" y="327660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/scores?from=&amp;to=</a:t>
            </a:r>
          </a:p>
        </p:txBody>
      </p:sp>
      <p:sp>
        <p:nvSpPr>
          <p:cNvPr id="94" name="endpoint-desc-3">
            <a:extLst>
              <a:ext uri="{FF2B5EF4-FFF2-40B4-BE49-F238E27FC236}">
                <a16:creationId xmlns:a16="http://schemas.microsoft.com/office/drawing/2014/main" id="{9931C645-2FEB-D6FA-2EAF-0CFEDBB7ECAE}"/>
              </a:ext>
            </a:extLst>
          </p:cNvPr>
          <p:cNvSpPr>
            <a:spLocks noGrp="1"/>
          </p:cNvSpPr>
          <p:nvPr/>
        </p:nvSpPr>
        <p:spPr>
          <a:xfrm>
            <a:off x="3971925" y="3276600"/>
            <a:ext cx="1971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기간별 점수 추이</a:t>
            </a:r>
          </a:p>
        </p:txBody>
      </p:sp>
      <p:sp>
        <p:nvSpPr>
          <p:cNvPr id="96" name="row-rule-3">
            <a:extLst>
              <a:ext uri="{FF2B5EF4-FFF2-40B4-BE49-F238E27FC236}">
                <a16:creationId xmlns:a16="http://schemas.microsoft.com/office/drawing/2014/main" id="{CF2212B8-C09C-DE50-0133-996A530409C8}"/>
              </a:ext>
            </a:extLst>
          </p:cNvPr>
          <p:cNvSpPr>
            <a:spLocks noGrp="1"/>
          </p:cNvSpPr>
          <p:nvPr/>
        </p:nvSpPr>
        <p:spPr>
          <a:xfrm>
            <a:off x="990600" y="3657600"/>
            <a:ext cx="4953000" cy="0"/>
          </a:xfrm>
          <a:prstGeom prst="line">
            <a:avLst/>
          </a:prstGeom>
          <a:noFill/>
          <a:ln w="9525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98" name="get-pill-4">
            <a:extLst>
              <a:ext uri="{FF2B5EF4-FFF2-40B4-BE49-F238E27FC236}">
                <a16:creationId xmlns:a16="http://schemas.microsoft.com/office/drawing/2014/main" id="{745AB023-B5E8-8F4F-D9B9-EB4AA13B4411}"/>
              </a:ext>
            </a:extLst>
          </p:cNvPr>
          <p:cNvSpPr>
            <a:spLocks noGrp="1"/>
          </p:cNvSpPr>
          <p:nvPr/>
        </p:nvSpPr>
        <p:spPr>
          <a:xfrm>
            <a:off x="990600" y="3733800"/>
            <a:ext cx="495300" cy="257175"/>
          </a:xfrm>
          <a:prstGeom prst="roundRect">
            <a:avLst>
              <a:gd name="adj" fmla="val 29630"/>
            </a:avLst>
          </a:prstGeom>
          <a:solidFill>
            <a:srgbClr val="E8F5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00" name="get-label-4">
            <a:extLst>
              <a:ext uri="{FF2B5EF4-FFF2-40B4-BE49-F238E27FC236}">
                <a16:creationId xmlns:a16="http://schemas.microsoft.com/office/drawing/2014/main" id="{44324833-7F25-3ADE-79C2-0CD3269EBFB0}"/>
              </a:ext>
            </a:extLst>
          </p:cNvPr>
          <p:cNvSpPr>
            <a:spLocks noGrp="1"/>
          </p:cNvSpPr>
          <p:nvPr/>
        </p:nvSpPr>
        <p:spPr>
          <a:xfrm>
            <a:off x="990600" y="3733800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GET</a:t>
            </a:r>
          </a:p>
        </p:txBody>
      </p:sp>
      <p:sp>
        <p:nvSpPr>
          <p:cNvPr id="102" name="endpoint-4">
            <a:extLst>
              <a:ext uri="{FF2B5EF4-FFF2-40B4-BE49-F238E27FC236}">
                <a16:creationId xmlns:a16="http://schemas.microsoft.com/office/drawing/2014/main" id="{4D05C907-102F-FDCA-0187-E22D555DEFEA}"/>
              </a:ext>
            </a:extLst>
          </p:cNvPr>
          <p:cNvSpPr>
            <a:spLocks noGrp="1"/>
          </p:cNvSpPr>
          <p:nvPr/>
        </p:nvSpPr>
        <p:spPr>
          <a:xfrm>
            <a:off x="1657350" y="37147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/indicators</a:t>
            </a:r>
          </a:p>
        </p:txBody>
      </p:sp>
      <p:sp>
        <p:nvSpPr>
          <p:cNvPr id="104" name="endpoint-desc-4">
            <a:extLst>
              <a:ext uri="{FF2B5EF4-FFF2-40B4-BE49-F238E27FC236}">
                <a16:creationId xmlns:a16="http://schemas.microsoft.com/office/drawing/2014/main" id="{756F61FA-B656-4311-BE3B-6C3A59EA20C7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5개 지표 최신값·변화량</a:t>
            </a:r>
          </a:p>
        </p:txBody>
      </p:sp>
      <p:sp>
        <p:nvSpPr>
          <p:cNvPr id="106" name="row-rule-4">
            <a:extLst>
              <a:ext uri="{FF2B5EF4-FFF2-40B4-BE49-F238E27FC236}">
                <a16:creationId xmlns:a16="http://schemas.microsoft.com/office/drawing/2014/main" id="{4C85EA4B-DE41-83E1-498F-447E1AE02538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4953000" cy="0"/>
          </a:xfrm>
          <a:prstGeom prst="line">
            <a:avLst/>
          </a:prstGeom>
          <a:noFill/>
          <a:ln w="9525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08" name="get-pill-5">
            <a:extLst>
              <a:ext uri="{FF2B5EF4-FFF2-40B4-BE49-F238E27FC236}">
                <a16:creationId xmlns:a16="http://schemas.microsoft.com/office/drawing/2014/main" id="{05A61009-C689-C374-2504-F6E610B6203E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495300" cy="257175"/>
          </a:xfrm>
          <a:prstGeom prst="roundRect">
            <a:avLst>
              <a:gd name="adj" fmla="val 29630"/>
            </a:avLst>
          </a:prstGeom>
          <a:solidFill>
            <a:srgbClr val="E8F5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10" name="get-label-5">
            <a:extLst>
              <a:ext uri="{FF2B5EF4-FFF2-40B4-BE49-F238E27FC236}">
                <a16:creationId xmlns:a16="http://schemas.microsoft.com/office/drawing/2014/main" id="{DBA80DA9-7208-95B9-A788-DB8A7D3B3271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GET</a:t>
            </a:r>
          </a:p>
        </p:txBody>
      </p:sp>
      <p:sp>
        <p:nvSpPr>
          <p:cNvPr id="112" name="endpoint-5">
            <a:extLst>
              <a:ext uri="{FF2B5EF4-FFF2-40B4-BE49-F238E27FC236}">
                <a16:creationId xmlns:a16="http://schemas.microsoft.com/office/drawing/2014/main" id="{6DB1AFCF-4352-C51B-C881-113B8570A926}"/>
              </a:ext>
            </a:extLst>
          </p:cNvPr>
          <p:cNvSpPr>
            <a:spLocks noGrp="1"/>
          </p:cNvSpPr>
          <p:nvPr/>
        </p:nvSpPr>
        <p:spPr>
          <a:xfrm>
            <a:off x="1657350" y="4152900"/>
            <a:ext cx="2524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/indicators/{code}/observations</a:t>
            </a:r>
          </a:p>
        </p:txBody>
      </p:sp>
      <p:sp>
        <p:nvSpPr>
          <p:cNvPr id="114" name="endpoint-desc-5">
            <a:extLst>
              <a:ext uri="{FF2B5EF4-FFF2-40B4-BE49-F238E27FC236}">
                <a16:creationId xmlns:a16="http://schemas.microsoft.com/office/drawing/2014/main" id="{22210F6D-876C-60C8-60F1-A5C25E009A5C}"/>
              </a:ext>
            </a:extLst>
          </p:cNvPr>
          <p:cNvSpPr>
            <a:spLocks noGrp="1"/>
          </p:cNvSpPr>
          <p:nvPr/>
        </p:nvSpPr>
        <p:spPr>
          <a:xfrm>
            <a:off x="4257675" y="415290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지표 원천 시계열</a:t>
            </a:r>
          </a:p>
        </p:txBody>
      </p:sp>
      <p:sp>
        <p:nvSpPr>
          <p:cNvPr id="116" name="row-rule-5">
            <a:extLst>
              <a:ext uri="{FF2B5EF4-FFF2-40B4-BE49-F238E27FC236}">
                <a16:creationId xmlns:a16="http://schemas.microsoft.com/office/drawing/2014/main" id="{59C368F5-4071-BBDC-8B67-18277B9B4269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4953000" cy="0"/>
          </a:xfrm>
          <a:prstGeom prst="line">
            <a:avLst/>
          </a:prstGeom>
          <a:noFill/>
          <a:ln w="9525">
            <a:solidFill>
              <a:srgbClr val="D6E4E2"/>
            </a:solidFill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18" name="get-pill-6">
            <a:extLst>
              <a:ext uri="{FF2B5EF4-FFF2-40B4-BE49-F238E27FC236}">
                <a16:creationId xmlns:a16="http://schemas.microsoft.com/office/drawing/2014/main" id="{A737910B-79E2-B324-4AE1-DC45CDC61B41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495300" cy="257175"/>
          </a:xfrm>
          <a:prstGeom prst="roundRect">
            <a:avLst>
              <a:gd name="adj" fmla="val 29630"/>
            </a:avLst>
          </a:prstGeom>
          <a:solidFill>
            <a:srgbClr val="E8F5F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1100"/>
          </a:p>
        </p:txBody>
      </p:sp>
      <p:sp>
        <p:nvSpPr>
          <p:cNvPr id="120" name="get-label-6">
            <a:extLst>
              <a:ext uri="{FF2B5EF4-FFF2-40B4-BE49-F238E27FC236}">
                <a16:creationId xmlns:a16="http://schemas.microsoft.com/office/drawing/2014/main" id="{64631AEA-5467-826C-3D8D-1C2FBF548656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495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ctr">
              <a:defRPr sz="825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GET</a:t>
            </a:r>
          </a:p>
        </p:txBody>
      </p:sp>
      <p:sp>
        <p:nvSpPr>
          <p:cNvPr id="122" name="endpoint-6">
            <a:extLst>
              <a:ext uri="{FF2B5EF4-FFF2-40B4-BE49-F238E27FC236}">
                <a16:creationId xmlns:a16="http://schemas.microsoft.com/office/drawing/2014/main" id="{BF128671-4B45-F3DC-84DE-CCC8B583033A}"/>
              </a:ext>
            </a:extLst>
          </p:cNvPr>
          <p:cNvSpPr>
            <a:spLocks noGrp="1"/>
          </p:cNvSpPr>
          <p:nvPr/>
        </p:nvSpPr>
        <p:spPr>
          <a:xfrm>
            <a:off x="1657350" y="45910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013" b="1">
                <a:solidFill>
                  <a:srgbClr val="163847"/>
                </a:solidFill>
                <a:latin typeface="NanumSquare"/>
                <a:ea typeface="NanumSquare"/>
                <a:cs typeface="NanumSquare"/>
              </a:defRPr>
            </a:pPr>
            <a:r>
              <a:rPr sz="1100" b="1">
                <a:solidFill>
                  <a:srgbClr val="163847"/>
                </a:solidFill>
                <a:latin typeface="NanumSquare"/>
                <a:ea typeface="NanumSquare"/>
                <a:cs typeface="NanumSquare"/>
              </a:rPr>
              <a:t>/methodology</a:t>
            </a:r>
          </a:p>
        </p:txBody>
      </p:sp>
      <p:sp>
        <p:nvSpPr>
          <p:cNvPr id="124" name="endpoint-desc-6">
            <a:extLst>
              <a:ext uri="{FF2B5EF4-FFF2-40B4-BE49-F238E27FC236}">
                <a16:creationId xmlns:a16="http://schemas.microsoft.com/office/drawing/2014/main" id="{44E93E91-DF78-B13F-7EDE-EC6DD4274AFD}"/>
              </a:ext>
            </a:extLst>
          </p:cNvPr>
          <p:cNvSpPr>
            <a:spLocks noGrp="1"/>
          </p:cNvSpPr>
          <p:nvPr/>
        </p:nvSpPr>
        <p:spPr>
          <a:xfrm>
            <a:off x="3543300" y="45910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938">
                <a:solidFill>
                  <a:srgbClr val="718995"/>
                </a:solidFill>
                <a:latin typeface="NanumSquare"/>
                <a:ea typeface="NanumSquare"/>
                <a:cs typeface="NanumSquare"/>
              </a:defRPr>
            </a:pPr>
            <a:r>
              <a:rPr sz="1100">
                <a:solidFill>
                  <a:srgbClr val="718995"/>
                </a:solidFill>
                <a:latin typeface="NanumSquare"/>
                <a:ea typeface="NanumSquare"/>
                <a:cs typeface="NanumSquare"/>
              </a:rPr>
              <a:t>산식·판정 기준</a:t>
            </a:r>
          </a:p>
        </p:txBody>
      </p:sp>
      <p:sp>
        <p:nvSpPr>
          <p:cNvPr id="126" name="response-card">
            <a:extLst>
              <a:ext uri="{FF2B5EF4-FFF2-40B4-BE49-F238E27FC236}">
                <a16:creationId xmlns:a16="http://schemas.microsoft.com/office/drawing/2014/main" id="{C16E7BB1-5E85-1463-F5F2-1AF98F34FBCC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4953000" cy="3276600"/>
          </a:xfrm>
          <a:prstGeom prst="roundRect">
            <a:avLst>
              <a:gd name="adj" fmla="val 3488"/>
            </a:avLst>
          </a:prstGeom>
          <a:solidFill>
            <a:srgbClr val="12384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response-heading">
            <a:extLst>
              <a:ext uri="{FF2B5EF4-FFF2-40B4-BE49-F238E27FC236}">
                <a16:creationId xmlns:a16="http://schemas.microsoft.com/office/drawing/2014/main" id="{1637B460-D3D0-8820-D094-1F8DD9329C71}"/>
              </a:ext>
            </a:extLst>
          </p:cNvPr>
          <p:cNvSpPr>
            <a:spLocks noGrp="1"/>
          </p:cNvSpPr>
          <p:nvPr/>
        </p:nvSpPr>
        <p:spPr>
          <a:xfrm>
            <a:off x="6743700" y="2000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DCEFEA"/>
                </a:solidFill>
                <a:latin typeface="NanumSquare"/>
                <a:ea typeface="NanumSquare"/>
                <a:cs typeface="NanumSquare"/>
              </a:rPr>
              <a:t>표준 JSON 응답</a:t>
            </a:r>
          </a:p>
        </p:txBody>
      </p:sp>
      <p:sp>
        <p:nvSpPr>
          <p:cNvPr id="130" name="response-endpoint">
            <a:extLst>
              <a:ext uri="{FF2B5EF4-FFF2-40B4-BE49-F238E27FC236}">
                <a16:creationId xmlns:a16="http://schemas.microsoft.com/office/drawing/2014/main" id="{C6DF983B-A036-04B5-17EB-E9145D2C5282}"/>
              </a:ext>
            </a:extLst>
          </p:cNvPr>
          <p:cNvSpPr>
            <a:spLocks noGrp="1"/>
          </p:cNvSpPr>
          <p:nvPr/>
        </p:nvSpPr>
        <p:spPr>
          <a:xfrm>
            <a:off x="8858250" y="2009775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defPPr>
            <a:lvl1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1pPr>
            <a:lvl2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2pPr>
            <a:lvl3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3pPr>
            <a:lvl4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4pPr>
            <a:lvl5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5pPr>
            <a:lvl6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6pPr>
            <a:lvl7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7pPr>
            <a:lvl8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8pPr>
            <a:lvl9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r">
              <a:def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pPr>
            <a:r>
              <a:rPr sz="825" b="1">
                <a:solidFill>
                  <a:srgbClr val="DCEFEA"/>
                </a:solidFill>
                <a:latin typeface="NanumSquare"/>
                <a:ea typeface="NanumSquare"/>
                <a:cs typeface="NanumSquare"/>
              </a:rPr>
              <a:t>GET /scores/latest</a:t>
            </a:r>
          </a:p>
        </p:txBody>
      </p:sp>
      <p:sp>
        <p:nvSpPr>
          <p:cNvPr id="132" name="response-rule">
            <a:extLst>
              <a:ext uri="{FF2B5EF4-FFF2-40B4-BE49-F238E27FC236}">
                <a16:creationId xmlns:a16="http://schemas.microsoft.com/office/drawing/2014/main" id="{6B5E24C4-F5DF-BE69-5693-E618C902EDE7}"/>
              </a:ext>
            </a:extLst>
          </p:cNvPr>
          <p:cNvSpPr>
            <a:spLocks noGrp="1"/>
          </p:cNvSpPr>
          <p:nvPr/>
        </p:nvSpPr>
        <p:spPr>
          <a:xfrm>
            <a:off x="6743700" y="2286000"/>
            <a:ext cx="4419600" cy="0"/>
          </a:xfrm>
          <a:prstGeom prst="line">
            <a:avLst/>
          </a:prstGeom>
          <a:noFill/>
          <a:ln w="9525">
            <a:solidFill>
              <a:srgbClr val="2B53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json-sample">
            <a:extLst>
              <a:ext uri="{FF2B5EF4-FFF2-40B4-BE49-F238E27FC236}">
                <a16:creationId xmlns:a16="http://schemas.microsoft.com/office/drawing/2014/main" id="{0414DA8F-B5EC-7858-DD41-E7A586F39B6E}"/>
              </a:ext>
            </a:extLst>
          </p:cNvPr>
          <p:cNvSpPr>
            <a:spLocks noGrp="1"/>
          </p:cNvSpPr>
          <p:nvPr/>
        </p:nvSpPr>
        <p:spPr>
          <a:xfrm>
            <a:off x="6858000" y="247650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"as_of_date": "2026-10-09",</a:t>
            </a:r>
          </a:p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"total_score": 14.6,</a:t>
            </a:r>
          </a:p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"stage": "정상",</a:t>
            </a:r>
          </a:p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"markets": {</a:t>
            </a:r>
          </a:p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"equity": 0.0, "fx": 0.0,</a:t>
            </a:r>
          </a:p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"rate": 14.6, "credit": 0.0</a:t>
            </a:r>
          </a:p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},</a:t>
            </a:r>
          </a:p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"spread_count": 1</a:t>
            </a:r>
          </a:p>
          <a:p>
            <a:pPr>
              <a:def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36" name="json-note-title">
            <a:extLst>
              <a:ext uri="{FF2B5EF4-FFF2-40B4-BE49-F238E27FC236}">
                <a16:creationId xmlns:a16="http://schemas.microsoft.com/office/drawing/2014/main" id="{DF60FF36-4004-B196-1F02-A4432E00C4D9}"/>
              </a:ext>
            </a:extLst>
          </p:cNvPr>
          <p:cNvSpPr>
            <a:spLocks noGrp="1"/>
          </p:cNvSpPr>
          <p:nvPr/>
        </p:nvSpPr>
        <p:spPr>
          <a:xfrm>
            <a:off x="6642100" y="4396318"/>
            <a:ext cx="4686300" cy="5619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100" dirty="0"/>
              <a:t>※ </a:t>
            </a:r>
            <a:r>
              <a:rPr lang="ko-KR" altLang="en-US" sz="1100" dirty="0"/>
              <a:t>웹</a:t>
            </a:r>
            <a:r>
              <a:rPr sz="1100" b="1" dirty="0" err="1">
                <a:solidFill>
                  <a:srgbClr val="DCEFEA"/>
                </a:solidFill>
                <a:latin typeface="NanumSquare"/>
                <a:ea typeface="NanumSquare"/>
                <a:cs typeface="NanumSquare"/>
              </a:rPr>
              <a:t>화면은</a:t>
            </a:r>
            <a:r>
              <a:rPr sz="1100" b="1" dirty="0">
                <a:solidFill>
                  <a:srgbClr val="DCEFEA"/>
                </a:solidFill>
                <a:latin typeface="NanumSquare"/>
                <a:ea typeface="NanumSquare"/>
                <a:cs typeface="NanumSquare"/>
              </a:rPr>
              <a:t> API</a:t>
            </a:r>
            <a:r>
              <a:rPr lang="ko-KR" altLang="en-US" sz="1100" b="1" dirty="0">
                <a:solidFill>
                  <a:srgbClr val="DCEFEA"/>
                </a:solidFill>
                <a:latin typeface="NanumSquare"/>
                <a:ea typeface="NanumSquare"/>
                <a:cs typeface="NanumSquare"/>
              </a:rPr>
              <a:t>가 계산한 점수</a:t>
            </a:r>
            <a:r>
              <a:rPr lang="en-US" altLang="ko-KR" sz="1100" b="1" dirty="0">
                <a:solidFill>
                  <a:srgbClr val="DCEFEA"/>
                </a:solidFill>
                <a:latin typeface="NanumSquare"/>
                <a:ea typeface="NanumSquare"/>
                <a:cs typeface="NanumSquare"/>
              </a:rPr>
              <a:t>·</a:t>
            </a:r>
            <a:r>
              <a:rPr lang="ko-KR" altLang="en-US" sz="1100" b="1" dirty="0">
                <a:solidFill>
                  <a:srgbClr val="DCEFEA"/>
                </a:solidFill>
                <a:latin typeface="NanumSquare"/>
                <a:ea typeface="NanumSquare"/>
                <a:cs typeface="NanumSquare"/>
              </a:rPr>
              <a:t>단계</a:t>
            </a:r>
            <a:r>
              <a:rPr lang="en-US" altLang="ko-KR" sz="1100" b="1" dirty="0">
                <a:solidFill>
                  <a:srgbClr val="DCEFEA"/>
                </a:solidFill>
                <a:latin typeface="NanumSquare"/>
                <a:ea typeface="NanumSquare"/>
                <a:cs typeface="NanumSquare"/>
              </a:rPr>
              <a:t>·</a:t>
            </a:r>
            <a:r>
              <a:rPr lang="ko-KR" altLang="en-US" sz="1100" b="1" dirty="0">
                <a:solidFill>
                  <a:srgbClr val="DCEFEA"/>
                </a:solidFill>
                <a:latin typeface="NanumSquare"/>
                <a:ea typeface="NanumSquare"/>
                <a:cs typeface="NanumSquare"/>
              </a:rPr>
              <a:t>기여도를 재계산하지 않고 그대로 표시</a:t>
            </a:r>
            <a:endParaRPr lang="en-US" altLang="ko-KR" sz="1100" b="1" dirty="0">
              <a:solidFill>
                <a:srgbClr val="DCEFEA"/>
              </a:solidFill>
              <a:latin typeface="NanumSquare"/>
              <a:ea typeface="NanumSquare"/>
              <a:cs typeface="NanumSquare"/>
            </a:endParaRPr>
          </a:p>
          <a:p>
            <a:pPr>
              <a:defRPr sz="938" b="1">
                <a:solidFill>
                  <a:srgbClr val="DCEFEA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000" b="0" dirty="0"/>
              <a:t>     </a:t>
            </a:r>
            <a:r>
              <a:rPr lang="en-US" altLang="ko-KR" sz="1000" b="0" dirty="0"/>
              <a:t>- </a:t>
            </a:r>
            <a:r>
              <a:rPr lang="ko-KR" altLang="en-US" sz="1000" b="0" dirty="0"/>
              <a:t>점수 기준일은 </a:t>
            </a:r>
            <a:r>
              <a:rPr lang="en-US" altLang="ko-KR" sz="1000" b="0" dirty="0"/>
              <a:t>5</a:t>
            </a:r>
            <a:r>
              <a:rPr lang="ko-KR" altLang="en-US" sz="1000" b="0" dirty="0"/>
              <a:t>개 지표 공통일을 사용하고 개별 관측일은 지표마다 다를 수 있음</a:t>
            </a:r>
            <a:endParaRPr sz="1000" b="0" dirty="0">
              <a:solidFill>
                <a:srgbClr val="DCEFEA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42" name="takeaway-card-0">
            <a:extLst>
              <a:ext uri="{FF2B5EF4-FFF2-40B4-BE49-F238E27FC236}">
                <a16:creationId xmlns:a16="http://schemas.microsoft.com/office/drawing/2014/main" id="{09AA7610-CAFC-70F0-3964-B7411E1ED484}"/>
              </a:ext>
            </a:extLst>
          </p:cNvPr>
          <p:cNvSpPr>
            <a:spLocks noGrp="1"/>
          </p:cNvSpPr>
          <p:nvPr/>
        </p:nvSpPr>
        <p:spPr>
          <a:xfrm>
            <a:off x="762000" y="5254790"/>
            <a:ext cx="3390900" cy="711962"/>
          </a:xfrm>
          <a:prstGeom prst="roundRect">
            <a:avLst>
              <a:gd name="adj" fmla="val 14286"/>
            </a:avLst>
          </a:prstGeom>
          <a:solidFill>
            <a:srgbClr val="F0F8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akeaway-head-0">
            <a:extLst>
              <a:ext uri="{FF2B5EF4-FFF2-40B4-BE49-F238E27FC236}">
                <a16:creationId xmlns:a16="http://schemas.microsoft.com/office/drawing/2014/main" id="{3CE1599D-89EE-1A5B-03B4-0C490CEABD73}"/>
              </a:ext>
            </a:extLst>
          </p:cNvPr>
          <p:cNvSpPr>
            <a:spLocks noGrp="1"/>
          </p:cNvSpPr>
          <p:nvPr/>
        </p:nvSpPr>
        <p:spPr>
          <a:xfrm>
            <a:off x="914400" y="5321465"/>
            <a:ext cx="3086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DB → </a:t>
            </a:r>
            <a:r>
              <a:rPr sz="1200" b="1" dirty="0" err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FastAPI</a:t>
            </a:r>
            <a:r>
              <a:rPr sz="1200" b="1" dirty="0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 → Web</a:t>
            </a:r>
          </a:p>
        </p:txBody>
      </p:sp>
      <p:sp>
        <p:nvSpPr>
          <p:cNvPr id="146" name="takeaway-body-0">
            <a:extLst>
              <a:ext uri="{FF2B5EF4-FFF2-40B4-BE49-F238E27FC236}">
                <a16:creationId xmlns:a16="http://schemas.microsoft.com/office/drawing/2014/main" id="{BFE128BD-AE9A-D8FF-E23C-D873B410DFDE}"/>
              </a:ext>
            </a:extLst>
          </p:cNvPr>
          <p:cNvSpPr>
            <a:spLocks noGrp="1"/>
          </p:cNvSpPr>
          <p:nvPr/>
        </p:nvSpPr>
        <p:spPr>
          <a:xfrm>
            <a:off x="914400" y="5536028"/>
            <a:ext cx="3086100" cy="3605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저장된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결과만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조회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사용자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요청마다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재계산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없음</a:t>
            </a:r>
            <a:endParaRPr sz="1100" dirty="0">
              <a:solidFill>
                <a:srgbClr val="1C3541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48" name="takeaway-card-1">
            <a:extLst>
              <a:ext uri="{FF2B5EF4-FFF2-40B4-BE49-F238E27FC236}">
                <a16:creationId xmlns:a16="http://schemas.microsoft.com/office/drawing/2014/main" id="{16E424F3-762C-9F2D-F909-689BFB5AE8C0}"/>
              </a:ext>
            </a:extLst>
          </p:cNvPr>
          <p:cNvSpPr>
            <a:spLocks noGrp="1"/>
          </p:cNvSpPr>
          <p:nvPr/>
        </p:nvSpPr>
        <p:spPr>
          <a:xfrm>
            <a:off x="4400551" y="5263768"/>
            <a:ext cx="3390900" cy="711962"/>
          </a:xfrm>
          <a:prstGeom prst="roundRect">
            <a:avLst>
              <a:gd name="adj" fmla="val 14286"/>
            </a:avLst>
          </a:prstGeom>
          <a:solidFill>
            <a:srgbClr val="F0F8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takeaway-head-1">
            <a:extLst>
              <a:ext uri="{FF2B5EF4-FFF2-40B4-BE49-F238E27FC236}">
                <a16:creationId xmlns:a16="http://schemas.microsoft.com/office/drawing/2014/main" id="{2480754F-972C-9AAB-A4FC-B935736B680A}"/>
              </a:ext>
            </a:extLst>
          </p:cNvPr>
          <p:cNvSpPr>
            <a:spLocks noGrp="1"/>
          </p:cNvSpPr>
          <p:nvPr/>
        </p:nvSpPr>
        <p:spPr>
          <a:xfrm>
            <a:off x="4514850" y="5321465"/>
            <a:ext cx="3086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오류·결측 처리</a:t>
            </a:r>
          </a:p>
        </p:txBody>
      </p:sp>
      <p:sp>
        <p:nvSpPr>
          <p:cNvPr id="152" name="takeaway-body-1">
            <a:extLst>
              <a:ext uri="{FF2B5EF4-FFF2-40B4-BE49-F238E27FC236}">
                <a16:creationId xmlns:a16="http://schemas.microsoft.com/office/drawing/2014/main" id="{4C131B1A-9D3E-B743-B65A-AE4EE8D728F1}"/>
              </a:ext>
            </a:extLst>
          </p:cNvPr>
          <p:cNvSpPr>
            <a:spLocks noGrp="1"/>
          </p:cNvSpPr>
          <p:nvPr/>
        </p:nvSpPr>
        <p:spPr>
          <a:xfrm>
            <a:off x="4514850" y="5536028"/>
            <a:ext cx="3086100" cy="3605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결측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= null · 404/422/500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구분</a:t>
            </a:r>
            <a:endParaRPr sz="1100" dirty="0">
              <a:solidFill>
                <a:srgbClr val="1C3541"/>
              </a:solidFill>
              <a:latin typeface="NanumSquare"/>
              <a:ea typeface="NanumSquare"/>
              <a:cs typeface="NanumSquare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내부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오류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정보는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응답에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노출하지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않음</a:t>
            </a:r>
            <a:endParaRPr sz="1100" dirty="0">
              <a:solidFill>
                <a:srgbClr val="1C3541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54" name="takeaway-card-2">
            <a:extLst>
              <a:ext uri="{FF2B5EF4-FFF2-40B4-BE49-F238E27FC236}">
                <a16:creationId xmlns:a16="http://schemas.microsoft.com/office/drawing/2014/main" id="{5B84EFB1-86D1-922E-43F6-D49C9FB38261}"/>
              </a:ext>
            </a:extLst>
          </p:cNvPr>
          <p:cNvSpPr>
            <a:spLocks noGrp="1"/>
          </p:cNvSpPr>
          <p:nvPr/>
        </p:nvSpPr>
        <p:spPr>
          <a:xfrm>
            <a:off x="8039102" y="5254790"/>
            <a:ext cx="3390900" cy="711962"/>
          </a:xfrm>
          <a:prstGeom prst="roundRect">
            <a:avLst>
              <a:gd name="adj" fmla="val 14286"/>
            </a:avLst>
          </a:prstGeom>
          <a:solidFill>
            <a:srgbClr val="F0F8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takeaway-head-2">
            <a:extLst>
              <a:ext uri="{FF2B5EF4-FFF2-40B4-BE49-F238E27FC236}">
                <a16:creationId xmlns:a16="http://schemas.microsoft.com/office/drawing/2014/main" id="{F3DBDE26-4565-291C-112E-3BDD0B7DF75F}"/>
              </a:ext>
            </a:extLst>
          </p:cNvPr>
          <p:cNvSpPr>
            <a:spLocks noGrp="1"/>
          </p:cNvSpPr>
          <p:nvPr/>
        </p:nvSpPr>
        <p:spPr>
          <a:xfrm>
            <a:off x="8145380" y="5327481"/>
            <a:ext cx="3086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>
              <a:defRPr sz="863" b="1">
                <a:solidFill>
                  <a:srgbClr val="008F73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 dirty="0" err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운영·연동</a:t>
            </a:r>
            <a:r>
              <a:rPr sz="1200" b="1" dirty="0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200" b="1" dirty="0" err="1">
                <a:solidFill>
                  <a:srgbClr val="008F73"/>
                </a:solidFill>
                <a:latin typeface="NanumSquare"/>
                <a:ea typeface="NanumSquare"/>
                <a:cs typeface="NanumSquare"/>
              </a:rPr>
              <a:t>기준</a:t>
            </a:r>
            <a:endParaRPr sz="1200" b="1" dirty="0">
              <a:solidFill>
                <a:srgbClr val="008F73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58" name="takeaway-body-2">
            <a:extLst>
              <a:ext uri="{FF2B5EF4-FFF2-40B4-BE49-F238E27FC236}">
                <a16:creationId xmlns:a16="http://schemas.microsoft.com/office/drawing/2014/main" id="{FF0258AD-9EBB-A730-F929-FA6C4AB56CE1}"/>
              </a:ext>
            </a:extLst>
          </p:cNvPr>
          <p:cNvSpPr>
            <a:spLocks noGrp="1"/>
          </p:cNvSpPr>
          <p:nvPr/>
        </p:nvSpPr>
        <p:spPr>
          <a:xfrm>
            <a:off x="8145380" y="5542044"/>
            <a:ext cx="3086100" cy="3605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defPPr>
            <a:lvl1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1pPr>
            <a:lvl2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2pPr>
            <a:lvl3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3pPr>
            <a:lvl4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4pPr>
            <a:lvl5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5pPr>
            <a:lvl6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6pPr>
            <a:lvl7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7pPr>
            <a:lvl8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8pPr>
            <a:lvl9pPr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CORS로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허용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화면만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연결</a:t>
            </a:r>
            <a:endParaRPr sz="1100" dirty="0">
              <a:solidFill>
                <a:srgbClr val="1C3541"/>
              </a:solidFill>
              <a:latin typeface="NanumSquare"/>
              <a:ea typeface="NanumSquare"/>
              <a:cs typeface="NanumSquare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788">
                <a:solidFill>
                  <a:srgbClr val="1C3541"/>
                </a:solidFill>
                <a:latin typeface="NanumSquare"/>
                <a:ea typeface="NanumSquare"/>
                <a:cs typeface="NanumSquare"/>
              </a:defRPr>
            </a:pP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Swagger에서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요청·응답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구조</a:t>
            </a:r>
            <a:r>
              <a:rPr sz="1100" dirty="0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100" dirty="0" err="1">
                <a:solidFill>
                  <a:srgbClr val="1C3541"/>
                </a:solidFill>
                <a:latin typeface="NanumSquare"/>
                <a:ea typeface="NanumSquare"/>
                <a:cs typeface="NanumSquare"/>
              </a:rPr>
              <a:t>확인</a:t>
            </a:r>
            <a:endParaRPr sz="1100" dirty="0">
              <a:solidFill>
                <a:srgbClr val="1C3541"/>
              </a:solidFill>
              <a:latin typeface="NanumSquare"/>
              <a:ea typeface="NanumSquare"/>
              <a:cs typeface="NanumSquar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 / DASHBOARD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39912" y="2560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KAIST · CLOUD COMPUTING LAB · TEAM 7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266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27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시장 위험 수준과 원인을 한 화면에서 확인</a:t>
            </a:r>
            <a:endParaRPr lang="ko-KR" alt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76072" y="1190124"/>
            <a:ext cx="10789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1073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ko-KR" altLang="en-US"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종합점수</a:t>
            </a:r>
            <a:r>
              <a:rPr lang="en-US" altLang="ko-KR"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·</a:t>
            </a:r>
            <a:r>
              <a:rPr lang="ko-KR" altLang="en-US" sz="12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시장별</a:t>
            </a:r>
            <a:r>
              <a:rPr lang="ko-KR" altLang="en-US"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기여도</a:t>
            </a:r>
            <a:r>
              <a:rPr lang="en-US" altLang="ko-KR"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·</a:t>
            </a:r>
            <a:r>
              <a:rPr lang="ko-KR" altLang="en-US" sz="12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원천지표를 연결해 추가 분석 우선순위를 파악</a:t>
            </a:r>
            <a:endParaRPr lang="ko-KR" alt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493982"/>
            <a:ext cx="11091672" cy="0"/>
          </a:xfrm>
          <a:prstGeom prst="line">
            <a:avLst/>
          </a:prstGeom>
          <a:noFill/>
          <a:ln w="12700">
            <a:solidFill>
              <a:srgbClr val="DF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/>
          <p:nvPr/>
        </p:nvSpPr>
        <p:spPr>
          <a:xfrm>
            <a:off x="594360" y="6202750"/>
            <a:ext cx="9875520" cy="348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1000" b="1" dirty="0">
                <a:solidFill>
                  <a:srgbClr val="6F8790"/>
                </a:solidFill>
                <a:ea typeface="NanumSquare"/>
                <a:cs typeface="NanumSquare"/>
              </a:rPr>
              <a:t>※  </a:t>
            </a:r>
            <a:r>
              <a:rPr lang="en-US" sz="1000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LIVE  team7-stress-dashboard-1.onrender.com  ·  실데이터 표시 / 26.10.20 </a:t>
            </a:r>
            <a:r>
              <a:rPr lang="ko-KR" altLang="en-US" sz="1000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화면 확인</a:t>
            </a:r>
            <a:endParaRPr lang="en-US" sz="1000" dirty="0"/>
          </a:p>
        </p:txBody>
      </p:sp>
      <p:sp>
        <p:nvSpPr>
          <p:cNvPr id="33" name="Rounded Rectangle 32"/>
          <p:cNvSpPr/>
          <p:nvPr/>
        </p:nvSpPr>
        <p:spPr>
          <a:xfrm>
            <a:off x="640080" y="1655064"/>
            <a:ext cx="5358384" cy="2112264"/>
          </a:xfrm>
          <a:prstGeom prst="roundRect">
            <a:avLst>
              <a:gd name="adj" fmla="val 8000"/>
            </a:avLst>
          </a:prstGeom>
          <a:solidFill>
            <a:srgbClr val="F7FAFA"/>
          </a:solidFill>
          <a:ln w="10160">
            <a:solidFill>
              <a:srgbClr val="DD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" y="1760220"/>
            <a:ext cx="393192" cy="256032"/>
          </a:xfrm>
          <a:prstGeom prst="roundRect">
            <a:avLst>
              <a:gd name="adj" fmla="val 8000"/>
            </a:avLst>
          </a:prstGeom>
          <a:solidFill>
            <a:srgbClr val="124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2" y="1795998"/>
            <a:ext cx="347472" cy="182880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1872" y="1755648"/>
            <a:ext cx="2673039" cy="246221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>
              <a:defRPr sz="1600" b="1">
                <a:solidFill>
                  <a:srgbClr val="15353E"/>
                </a:solidFill>
                <a:latin typeface="Malgun Gothic"/>
              </a:defRPr>
            </a:pPr>
            <a:r>
              <a:rPr dirty="0" err="1"/>
              <a:t>종합점수</a:t>
            </a:r>
            <a:r>
              <a:rPr dirty="0"/>
              <a:t> · </a:t>
            </a:r>
            <a:r>
              <a:rPr dirty="0" err="1"/>
              <a:t>위험단계</a:t>
            </a:r>
            <a:r>
              <a:rPr lang="ko-KR" altLang="en-US" sz="1600" b="1" dirty="0">
                <a:solidFill>
                  <a:srgbClr val="15353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600" b="1" dirty="0">
                <a:solidFill>
                  <a:srgbClr val="15353E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sz="1600" b="1" dirty="0">
                <a:solidFill>
                  <a:srgbClr val="15353E"/>
                </a:solidFill>
                <a:latin typeface="Malgun Gothic"/>
                <a:ea typeface="Malgun Gothic"/>
                <a:cs typeface="Malgun Gothic"/>
              </a:rPr>
              <a:t>기준일</a:t>
            </a:r>
            <a:endParaRPr dirty="0"/>
          </a:p>
        </p:txBody>
      </p:sp>
      <p:pic>
        <p:nvPicPr>
          <p:cNvPr id="37" name="Picture 36" descr="team7_slide9_panel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12264"/>
            <a:ext cx="5157216" cy="15544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190488" y="1655064"/>
            <a:ext cx="5358384" cy="2112264"/>
          </a:xfrm>
          <a:prstGeom prst="roundRect">
            <a:avLst>
              <a:gd name="adj" fmla="val 8000"/>
            </a:avLst>
          </a:prstGeom>
          <a:solidFill>
            <a:srgbClr val="F7FAFA"/>
          </a:solidFill>
          <a:ln w="10160">
            <a:solidFill>
              <a:srgbClr val="DD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309359" y="1760220"/>
            <a:ext cx="393192" cy="256032"/>
          </a:xfrm>
          <a:prstGeom prst="roundRect">
            <a:avLst>
              <a:gd name="adj" fmla="val 8000"/>
            </a:avLst>
          </a:prstGeom>
          <a:solidFill>
            <a:srgbClr val="124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32220" y="1795998"/>
            <a:ext cx="347472" cy="182880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79" y="1755648"/>
            <a:ext cx="2225802" cy="246221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>
              <a:defRPr sz="1600" b="1">
                <a:solidFill>
                  <a:srgbClr val="15353E"/>
                </a:solidFill>
                <a:latin typeface="Malgun Gothic"/>
              </a:defRPr>
            </a:pPr>
            <a:r>
              <a:rPr dirty="0" err="1"/>
              <a:t>점수추이</a:t>
            </a:r>
            <a:r>
              <a:rPr dirty="0"/>
              <a:t> </a:t>
            </a:r>
            <a:r>
              <a:rPr lang="en-US" altLang="ko-KR" sz="1600" b="1" dirty="0">
                <a:solidFill>
                  <a:srgbClr val="15353E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sz="1600" b="1" dirty="0">
                <a:solidFill>
                  <a:srgbClr val="15353E"/>
                </a:solidFill>
                <a:latin typeface="Malgun Gothic"/>
                <a:ea typeface="Malgun Gothic"/>
                <a:cs typeface="Malgun Gothic"/>
              </a:rPr>
              <a:t>기간</a:t>
            </a:r>
            <a:r>
              <a:rPr lang="en-US" altLang="ko-KR" sz="1600" b="1" dirty="0">
                <a:solidFill>
                  <a:srgbClr val="15353E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lang="ko-KR" altLang="en-US" sz="1600" b="1" dirty="0">
                <a:solidFill>
                  <a:srgbClr val="15353E"/>
                </a:solidFill>
                <a:latin typeface="Malgun Gothic"/>
                <a:ea typeface="Malgun Gothic"/>
                <a:cs typeface="Malgun Gothic"/>
              </a:rPr>
              <a:t>표 전환</a:t>
            </a:r>
            <a:endParaRPr dirty="0"/>
          </a:p>
        </p:txBody>
      </p:sp>
      <p:pic>
        <p:nvPicPr>
          <p:cNvPr id="42" name="Picture 41" descr="team7_slide9_panel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112264"/>
            <a:ext cx="5157216" cy="155448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40080" y="3950208"/>
            <a:ext cx="5358384" cy="2112264"/>
          </a:xfrm>
          <a:prstGeom prst="roundRect">
            <a:avLst>
              <a:gd name="adj" fmla="val 8000"/>
            </a:avLst>
          </a:prstGeom>
          <a:solidFill>
            <a:srgbClr val="F7FAFA"/>
          </a:solidFill>
          <a:ln w="10160">
            <a:solidFill>
              <a:srgbClr val="DD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58952" y="4055364"/>
            <a:ext cx="393192" cy="256032"/>
          </a:xfrm>
          <a:prstGeom prst="roundRect">
            <a:avLst>
              <a:gd name="adj" fmla="val 8000"/>
            </a:avLst>
          </a:prstGeom>
          <a:solidFill>
            <a:srgbClr val="124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1812" y="4091142"/>
            <a:ext cx="347472" cy="182880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61872" y="4050792"/>
            <a:ext cx="4535424" cy="265176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1600" b="1">
                <a:solidFill>
                  <a:srgbClr val="15353E"/>
                </a:solidFill>
                <a:latin typeface="Malgun Gothic"/>
              </a:defRPr>
            </a:pPr>
            <a:r>
              <a:t>시장별 점수 · 기여도</a:t>
            </a:r>
          </a:p>
        </p:txBody>
      </p:sp>
      <p:pic>
        <p:nvPicPr>
          <p:cNvPr id="47" name="Picture 46" descr="team7_slide9_panel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407408"/>
            <a:ext cx="5157216" cy="155448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6190488" y="3950208"/>
            <a:ext cx="5358384" cy="2112264"/>
          </a:xfrm>
          <a:prstGeom prst="roundRect">
            <a:avLst>
              <a:gd name="adj" fmla="val 8000"/>
            </a:avLst>
          </a:prstGeom>
          <a:solidFill>
            <a:srgbClr val="F7FAFA"/>
          </a:solidFill>
          <a:ln w="10160">
            <a:solidFill>
              <a:srgbClr val="DD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309359" y="4055364"/>
            <a:ext cx="393192" cy="256032"/>
          </a:xfrm>
          <a:prstGeom prst="roundRect">
            <a:avLst>
              <a:gd name="adj" fmla="val 8000"/>
            </a:avLst>
          </a:prstGeom>
          <a:solidFill>
            <a:srgbClr val="124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32220" y="4091142"/>
            <a:ext cx="347472" cy="182880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79" y="4050792"/>
            <a:ext cx="2531975" cy="246221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l">
              <a:defRPr sz="1600" b="1">
                <a:solidFill>
                  <a:srgbClr val="15353E"/>
                </a:solidFill>
                <a:latin typeface="Malgun Gothic"/>
              </a:defRPr>
            </a:pPr>
            <a:r>
              <a:rPr dirty="0"/>
              <a:t>5개 </a:t>
            </a:r>
            <a:r>
              <a:rPr dirty="0" err="1"/>
              <a:t>원천지표</a:t>
            </a:r>
            <a:r>
              <a:rPr dirty="0"/>
              <a:t> · </a:t>
            </a:r>
            <a:r>
              <a:rPr lang="ko-KR" altLang="en-US" dirty="0"/>
              <a:t>최신 </a:t>
            </a:r>
            <a:r>
              <a:rPr dirty="0" err="1"/>
              <a:t>관측일</a:t>
            </a:r>
            <a:endParaRPr dirty="0"/>
          </a:p>
        </p:txBody>
      </p:sp>
      <p:pic>
        <p:nvPicPr>
          <p:cNvPr id="52" name="Picture 51" descr="team7_slide9_panel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4407408"/>
            <a:ext cx="5157216" cy="1554480"/>
          </a:xfrm>
          <a:prstGeom prst="rect">
            <a:avLst/>
          </a:prstGeom>
        </p:spPr>
      </p:pic>
      <p:sp>
        <p:nvSpPr>
          <p:cNvPr id="12" name="Text 44">
            <a:extLst>
              <a:ext uri="{FF2B5EF4-FFF2-40B4-BE49-F238E27FC236}">
                <a16:creationId xmlns:a16="http://schemas.microsoft.com/office/drawing/2014/main" id="{89ADCE5B-2847-FD79-432D-473BCEB90037}"/>
              </a:ext>
            </a:extLst>
          </p:cNvPr>
          <p:cNvSpPr>
            <a:spLocks noGrp="1"/>
          </p:cNvSpPr>
          <p:nvPr/>
        </p:nvSpPr>
        <p:spPr>
          <a:xfrm>
            <a:off x="594360" y="6116955"/>
            <a:ext cx="10789920" cy="16954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l">
              <a:defRPr sz="698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buNone/>
              <a:defRPr sz="96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buNone/>
              <a:defRPr sz="96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buNone/>
              <a:defRPr sz="96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buNone/>
              <a:defRPr sz="96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buNone/>
              <a:defRPr sz="96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buNone/>
              <a:defRPr sz="96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buNone/>
              <a:defRPr sz="96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buNone/>
              <a:defRPr sz="96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buNone/>
              <a:defRPr sz="960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698" b="1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※ API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계산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결과를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그대로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표시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·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종합점수는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5개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지표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공통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관측일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기준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·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개별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관측일은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지표마다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다를</a:t>
            </a:r>
            <a:r>
              <a:rPr sz="1000" b="1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수 </a:t>
            </a:r>
            <a:r>
              <a:rPr sz="1000" b="1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있음</a:t>
            </a:r>
            <a:endParaRPr sz="1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0F46856-8965-C9D7-FA63-A54472508148}"/>
              </a:ext>
            </a:extLst>
          </p:cNvPr>
          <p:cNvSpPr/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10</a:t>
            </a:r>
            <a:endParaRPr lang="en-US" sz="8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9474"/>
          </a:solidFill>
          <a:ln w="10160">
            <a:solidFill>
              <a:srgbClr val="0894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246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 / VALIDATION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39912" y="2560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KAIST · CLOUD COMPUTING LAB · TEAM 7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566928" y="67665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실데이터 분석과 구현 검증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76072" y="1225296"/>
            <a:ext cx="10789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2026.10.20 확인 화면 · </a:t>
            </a:r>
            <a:r>
              <a:rPr lang="ko-KR" altLang="en-US" sz="1120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종합 스트레스</a:t>
            </a:r>
            <a:r>
              <a:rPr lang="en-US" sz="1120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점수 기준일 2026.10.09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11091672" cy="0"/>
          </a:xfrm>
          <a:prstGeom prst="line">
            <a:avLst/>
          </a:prstGeom>
          <a:noFill/>
          <a:ln w="12700">
            <a:solidFill>
              <a:srgbClr val="DF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45368" y="6501384"/>
            <a:ext cx="667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10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67512" y="1874520"/>
            <a:ext cx="3538728" cy="1188720"/>
          </a:xfrm>
          <a:prstGeom prst="roundRect">
            <a:avLst>
              <a:gd name="adj" fmla="val 7692"/>
            </a:avLst>
          </a:prstGeom>
          <a:solidFill>
            <a:srgbClr val="F5F8F8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0392" y="203911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종합 스트레스 점수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841248" y="2386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14.6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816352" y="259689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/ 100점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1874520"/>
            <a:ext cx="3538728" cy="1188720"/>
          </a:xfrm>
          <a:prstGeom prst="roundRect">
            <a:avLst>
              <a:gd name="adj" fmla="val 7692"/>
            </a:avLst>
          </a:prstGeom>
          <a:solidFill>
            <a:srgbClr val="F5F8F8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99432" y="203911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역사적 위치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590288" y="2386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39.8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565392" y="259689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백분위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47836" y="1874520"/>
            <a:ext cx="3538728" cy="1188720"/>
          </a:xfrm>
          <a:prstGeom prst="roundRect">
            <a:avLst>
              <a:gd name="adj" fmla="val 7692"/>
            </a:avLst>
          </a:prstGeom>
          <a:solidFill>
            <a:srgbClr val="E6F6EF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48472" y="2039112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6F879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위험단계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8339328" y="2386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정상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10314432" y="2596896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947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75백분위 미만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512" y="3300984"/>
            <a:ext cx="6793992" cy="2020824"/>
          </a:xfrm>
          <a:prstGeom prst="roundRect">
            <a:avLst>
              <a:gd name="adj" fmla="val 4831"/>
            </a:avLst>
          </a:prstGeom>
          <a:solidFill>
            <a:srgbClr val="F5F8F8"/>
          </a:solidFill>
          <a:ln w="11430">
            <a:solidFill>
              <a:srgbClr val="DF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05256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시장별 스트레스 점수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544" y="3877056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주식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1874520" y="3927348"/>
            <a:ext cx="4206240" cy="137160"/>
          </a:xfrm>
          <a:prstGeom prst="roundRect">
            <a:avLst>
              <a:gd name="adj" fmla="val 53333"/>
            </a:avLst>
          </a:prstGeom>
          <a:solidFill>
            <a:srgbClr val="DDE9E7"/>
          </a:solidFill>
          <a:ln w="10160">
            <a:solidFill>
              <a:srgbClr val="DDE9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172200" y="3877056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7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0.0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923544" y="418795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외환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1874520" y="4238244"/>
            <a:ext cx="4206240" cy="137160"/>
          </a:xfrm>
          <a:prstGeom prst="roundRect">
            <a:avLst>
              <a:gd name="adj" fmla="val 53333"/>
            </a:avLst>
          </a:prstGeom>
          <a:solidFill>
            <a:srgbClr val="DDE9E7"/>
          </a:solidFill>
          <a:ln w="10160">
            <a:solidFill>
              <a:srgbClr val="DDE9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172200" y="4187952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7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0.0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923544" y="4498848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금리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1874520" y="4549140"/>
            <a:ext cx="4206240" cy="137160"/>
          </a:xfrm>
          <a:prstGeom prst="roundRect">
            <a:avLst>
              <a:gd name="adj" fmla="val 53333"/>
            </a:avLst>
          </a:prstGeom>
          <a:solidFill>
            <a:srgbClr val="DDE9E7"/>
          </a:solidFill>
          <a:ln w="10160">
            <a:solidFill>
              <a:srgbClr val="DDE9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874520" y="4549140"/>
            <a:ext cx="2456444" cy="137160"/>
          </a:xfrm>
          <a:prstGeom prst="roundRect">
            <a:avLst>
              <a:gd name="adj" fmla="val 53333"/>
            </a:avLst>
          </a:prstGeom>
          <a:solidFill>
            <a:srgbClr val="15A575"/>
          </a:solidFill>
          <a:ln w="10160">
            <a:solidFill>
              <a:srgbClr val="15A5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172200" y="4498848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7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14.6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923544" y="4809744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3450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신용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1874520" y="4860036"/>
            <a:ext cx="4206240" cy="137160"/>
          </a:xfrm>
          <a:prstGeom prst="roundRect">
            <a:avLst>
              <a:gd name="adj" fmla="val 53333"/>
            </a:avLst>
          </a:prstGeom>
          <a:solidFill>
            <a:srgbClr val="DDE9E7"/>
          </a:solidFill>
          <a:ln w="10160">
            <a:solidFill>
              <a:srgbClr val="DDE9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172200" y="480974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7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0.0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7717536" y="3300983"/>
            <a:ext cx="3941064" cy="2048249"/>
          </a:xfrm>
          <a:prstGeom prst="roundRect">
            <a:avLst>
              <a:gd name="adj" fmla="val 3846"/>
            </a:avLst>
          </a:prstGeom>
          <a:solidFill>
            <a:srgbClr val="102D3A"/>
          </a:solidFill>
          <a:ln w="10160">
            <a:solidFill>
              <a:srgbClr val="102D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982712" y="352044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결과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982712" y="3968496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7F2E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금리시장 기여도 100%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982712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9E2E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동시 스트레스  1 / 4개 시장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9396" y="547142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</a:t>
            </a:r>
            <a:r>
              <a:rPr lang="en-US" sz="13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300" b="1" dirty="0">
                <a:solidFill>
                  <a:srgbClr val="18354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결과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04088" y="6144768"/>
            <a:ext cx="10853928" cy="409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705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※ </a:t>
            </a:r>
            <a:r>
              <a:rPr lang="ko-KR" altLang="en-US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한계  지표별 공개 시차로 종합 기준일과 개별 관측일이 다를 수 있음  </a:t>
            </a:r>
            <a:r>
              <a:rPr lang="en-US" altLang="ko-KR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·  </a:t>
            </a:r>
            <a:r>
              <a:rPr lang="ko-KR" altLang="en-US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일부 지표는 주 </a:t>
            </a:r>
            <a:r>
              <a:rPr lang="en-US" altLang="ko-KR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1</a:t>
            </a:r>
            <a:r>
              <a:rPr lang="ko-KR" altLang="en-US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회 공개  </a:t>
            </a:r>
            <a:r>
              <a:rPr lang="en-US" altLang="ko-KR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·  </a:t>
            </a:r>
            <a:r>
              <a:rPr lang="ko-KR" altLang="en-US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투자예측</a:t>
            </a:r>
            <a:r>
              <a:rPr lang="en-US" altLang="ko-KR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·</a:t>
            </a:r>
            <a:r>
              <a:rPr lang="ko-KR" altLang="en-US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추천 목적 아님</a:t>
            </a:r>
            <a:endParaRPr lang="ko-KR" altLang="en-US" sz="1000" dirty="0"/>
          </a:p>
        </p:txBody>
      </p:sp>
      <p:sp>
        <p:nvSpPr>
          <p:cNvPr id="54" name="market-interpretation-note">
            <a:extLst>
              <a:ext uri="{FF2B5EF4-FFF2-40B4-BE49-F238E27FC236}">
                <a16:creationId xmlns:a16="http://schemas.microsoft.com/office/drawing/2014/main" id="{6BCBD0F8-BA92-434B-AA65-7FD9E9BC8518}"/>
              </a:ext>
            </a:extLst>
          </p:cNvPr>
          <p:cNvSpPr>
            <a:spLocks noGrp="1"/>
          </p:cNvSpPr>
          <p:nvPr/>
        </p:nvSpPr>
        <p:spPr>
          <a:xfrm>
            <a:off x="904875" y="5100871"/>
            <a:ext cx="5810250" cy="1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algn="l"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r>
              <a:rPr lang="en-US" altLang="ko-KR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※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0점은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데이터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누락이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아닌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과거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50백분위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이하의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lang="ko-KR" altLang="en-US" sz="1000" dirty="0"/>
              <a:t>평</a:t>
            </a:r>
            <a:r>
              <a:rPr lang="ko-KR" altLang="en-US"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소</a:t>
            </a:r>
            <a:r>
              <a:rPr sz="1000" dirty="0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000" dirty="0" err="1">
                <a:solidFill>
                  <a:srgbClr val="6F8790"/>
                </a:solidFill>
                <a:latin typeface="NanumSquare"/>
                <a:ea typeface="NanumSquare"/>
                <a:cs typeface="NanumSquare"/>
              </a:rPr>
              <a:t>범위</a:t>
            </a:r>
            <a:endParaRPr sz="1000" dirty="0">
              <a:solidFill>
                <a:srgbClr val="6F8790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56" name="Shape 42">
            <a:extLst>
              <a:ext uri="{FF2B5EF4-FFF2-40B4-BE49-F238E27FC236}">
                <a16:creationId xmlns:a16="http://schemas.microsoft.com/office/drawing/2014/main" id="{61F2D615-8226-D0BA-7C5D-BC2205167003}"/>
              </a:ext>
            </a:extLst>
          </p:cNvPr>
          <p:cNvSpPr>
            <a:spLocks noGrp="1"/>
          </p:cNvSpPr>
          <p:nvPr/>
        </p:nvSpPr>
        <p:spPr>
          <a:xfrm>
            <a:off x="2086783" y="5448915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7F5EE"/>
          </a:solidFill>
          <a:ln w="10160">
            <a:solidFill>
              <a:srgbClr val="E7F5EE">
                <a:alpha val="0"/>
              </a:srgbClr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CB005BEE-EEAB-B3A4-BCEF-2711B31ADEE2}"/>
              </a:ext>
            </a:extLst>
          </p:cNvPr>
          <p:cNvSpPr>
            <a:spLocks noGrp="1"/>
          </p:cNvSpPr>
          <p:nvPr/>
        </p:nvSpPr>
        <p:spPr>
          <a:xfrm>
            <a:off x="2281143" y="5522976"/>
            <a:ext cx="713233" cy="3139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40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1,742일</a:t>
            </a:r>
            <a:endParaRPr sz="1400" dirty="0"/>
          </a:p>
        </p:txBody>
      </p:sp>
      <p:sp>
        <p:nvSpPr>
          <p:cNvPr id="60" name="Text 44">
            <a:extLst>
              <a:ext uri="{FF2B5EF4-FFF2-40B4-BE49-F238E27FC236}">
                <a16:creationId xmlns:a16="http://schemas.microsoft.com/office/drawing/2014/main" id="{2FAF96DF-2667-9931-FD76-03249A83B0B9}"/>
              </a:ext>
            </a:extLst>
          </p:cNvPr>
          <p:cNvSpPr>
            <a:spLocks noGrp="1"/>
          </p:cNvSpPr>
          <p:nvPr/>
        </p:nvSpPr>
        <p:spPr>
          <a:xfrm>
            <a:off x="2834091" y="5575622"/>
            <a:ext cx="194767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API·독립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계산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일치</a:t>
            </a:r>
            <a:endParaRPr sz="140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14F22CAB-169C-8121-0F70-999C8F59B808}"/>
              </a:ext>
            </a:extLst>
          </p:cNvPr>
          <p:cNvSpPr>
            <a:spLocks noGrp="1"/>
          </p:cNvSpPr>
          <p:nvPr/>
        </p:nvSpPr>
        <p:spPr>
          <a:xfrm>
            <a:off x="5111761" y="5440680"/>
            <a:ext cx="3144471" cy="502920"/>
          </a:xfrm>
          <a:prstGeom prst="roundRect">
            <a:avLst>
              <a:gd name="adj" fmla="val 14545"/>
            </a:avLst>
          </a:prstGeom>
          <a:solidFill>
            <a:srgbClr val="E7F5EE"/>
          </a:solidFill>
          <a:ln w="10160">
            <a:solidFill>
              <a:srgbClr val="E7F5EE">
                <a:alpha val="0"/>
              </a:srgbClr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64" name="Text 46">
            <a:extLst>
              <a:ext uri="{FF2B5EF4-FFF2-40B4-BE49-F238E27FC236}">
                <a16:creationId xmlns:a16="http://schemas.microsoft.com/office/drawing/2014/main" id="{B387566C-630A-4488-F7DA-E886AEDC3052}"/>
              </a:ext>
            </a:extLst>
          </p:cNvPr>
          <p:cNvSpPr>
            <a:spLocks noGrp="1"/>
          </p:cNvSpPr>
          <p:nvPr/>
        </p:nvSpPr>
        <p:spPr>
          <a:xfrm>
            <a:off x="5306878" y="559533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40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4건</a:t>
            </a:r>
            <a:endParaRPr sz="1400" dirty="0"/>
          </a:p>
        </p:txBody>
      </p:sp>
      <p:sp>
        <p:nvSpPr>
          <p:cNvPr id="66" name="Text 47">
            <a:extLst>
              <a:ext uri="{FF2B5EF4-FFF2-40B4-BE49-F238E27FC236}">
                <a16:creationId xmlns:a16="http://schemas.microsoft.com/office/drawing/2014/main" id="{793F9FA9-5180-9C26-6F1F-1AD3EA4F865B}"/>
              </a:ext>
            </a:extLst>
          </p:cNvPr>
          <p:cNvSpPr>
            <a:spLocks noGrp="1"/>
          </p:cNvSpPr>
          <p:nvPr/>
        </p:nvSpPr>
        <p:spPr>
          <a:xfrm>
            <a:off x="5925312" y="5567898"/>
            <a:ext cx="194767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엑셀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독립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검산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일치</a:t>
            </a:r>
            <a:endParaRPr sz="1400" dirty="0"/>
          </a:p>
        </p:txBody>
      </p:sp>
      <p:sp>
        <p:nvSpPr>
          <p:cNvPr id="68" name="Shape 48">
            <a:extLst>
              <a:ext uri="{FF2B5EF4-FFF2-40B4-BE49-F238E27FC236}">
                <a16:creationId xmlns:a16="http://schemas.microsoft.com/office/drawing/2014/main" id="{50F74EB5-0C26-5581-367E-5BA4D8FC95BC}"/>
              </a:ext>
            </a:extLst>
          </p:cNvPr>
          <p:cNvSpPr>
            <a:spLocks noGrp="1"/>
          </p:cNvSpPr>
          <p:nvPr/>
        </p:nvSpPr>
        <p:spPr>
          <a:xfrm>
            <a:off x="8442960" y="5440680"/>
            <a:ext cx="3221736" cy="502920"/>
          </a:xfrm>
          <a:prstGeom prst="roundRect">
            <a:avLst>
              <a:gd name="adj" fmla="val 14545"/>
            </a:avLst>
          </a:prstGeom>
          <a:solidFill>
            <a:srgbClr val="E7F5EE"/>
          </a:solidFill>
          <a:ln w="10160">
            <a:solidFill>
              <a:srgbClr val="E7F5EE">
                <a:alpha val="0"/>
              </a:srgbClr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70" name="Text 49">
            <a:extLst>
              <a:ext uri="{FF2B5EF4-FFF2-40B4-BE49-F238E27FC236}">
                <a16:creationId xmlns:a16="http://schemas.microsoft.com/office/drawing/2014/main" id="{4FD39B83-3770-F5AE-FBFD-3CABBC148829}"/>
              </a:ext>
            </a:extLst>
          </p:cNvPr>
          <p:cNvSpPr>
            <a:spLocks noGrp="1"/>
          </p:cNvSpPr>
          <p:nvPr/>
        </p:nvSpPr>
        <p:spPr>
          <a:xfrm>
            <a:off x="8624213" y="5603676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defPPr>
            <a:lvl1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1pPr>
            <a:lvl2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2pPr>
            <a:lvl3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3pPr>
            <a:lvl4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4pPr>
            <a:lvl5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5pPr>
            <a:lvl6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6pPr>
            <a:lvl7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7pPr>
            <a:lvl8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8pPr>
            <a:lvl9pPr algn="l"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l">
              <a:buNone/>
              <a:defRPr sz="1005" b="1">
                <a:solidFill>
                  <a:srgbClr val="089474"/>
                </a:solidFill>
                <a:latin typeface="NanumSquare"/>
                <a:ea typeface="NanumSquare"/>
                <a:cs typeface="NanumSquare"/>
              </a:defRPr>
            </a:pPr>
            <a:r>
              <a:rPr sz="1400" b="1" dirty="0">
                <a:solidFill>
                  <a:srgbClr val="089474"/>
                </a:solidFill>
                <a:latin typeface="NanumSquare"/>
                <a:ea typeface="NanumSquare"/>
                <a:cs typeface="NanumSquare"/>
              </a:rPr>
              <a:t>LIVE</a:t>
            </a:r>
            <a:endParaRPr sz="1400" dirty="0"/>
          </a:p>
        </p:txBody>
      </p:sp>
      <p:sp>
        <p:nvSpPr>
          <p:cNvPr id="72" name="Text 50">
            <a:extLst>
              <a:ext uri="{FF2B5EF4-FFF2-40B4-BE49-F238E27FC236}">
                <a16:creationId xmlns:a16="http://schemas.microsoft.com/office/drawing/2014/main" id="{13C19108-56EB-DEE9-9412-EE55967D34A6}"/>
              </a:ext>
            </a:extLst>
          </p:cNvPr>
          <p:cNvSpPr>
            <a:spLocks noGrp="1"/>
          </p:cNvSpPr>
          <p:nvPr/>
        </p:nvSpPr>
        <p:spPr>
          <a:xfrm>
            <a:off x="9133259" y="5585123"/>
            <a:ext cx="194767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def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defPPr>
            <a:lvl1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1pPr>
            <a:lvl2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2pPr>
            <a:lvl3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3pPr>
            <a:lvl4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4pPr>
            <a:lvl5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5pPr>
            <a:lvl6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6pPr>
            <a:lvl7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7pPr>
            <a:lvl8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8pPr>
            <a:lvl9pPr algn="ctr"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lvl9pPr>
          </a:lstStyle>
          <a:p>
            <a:pPr marL="0" indent="0" algn="ctr">
              <a:buNone/>
              <a:defRPr sz="923" b="1">
                <a:solidFill>
                  <a:srgbClr val="183542"/>
                </a:solidFill>
                <a:latin typeface="NanumSquare"/>
                <a:ea typeface="NanumSquare"/>
                <a:cs typeface="NanumSquare"/>
              </a:defRPr>
            </a:pP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Render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화면·API</a:t>
            </a:r>
            <a:r>
              <a:rPr sz="1400" b="1" dirty="0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 값 </a:t>
            </a:r>
            <a:r>
              <a:rPr sz="1400" b="1" dirty="0" err="1">
                <a:solidFill>
                  <a:srgbClr val="183542"/>
                </a:solidFill>
                <a:latin typeface="NanumSquare"/>
                <a:ea typeface="NanumSquare"/>
                <a:cs typeface="NanumSquare"/>
              </a:rPr>
              <a:t>일치</a:t>
            </a:r>
            <a:endParaRPr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42F"/>
          </a:solidFill>
          <a:ln w="10160">
            <a:solidFill>
              <a:srgbClr val="0924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0B08A"/>
          </a:solidFill>
          <a:ln w="10160">
            <a:solidFill>
              <a:srgbClr val="20B0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438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9DD9C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 / OUTCOME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" y="950976"/>
            <a:ext cx="77906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데이터에서 서비스까지,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클라우드 전 과정 구현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432304"/>
            <a:ext cx="9802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5E8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FRED  →  Python  →  Supabase  →  FastAPI  →  Render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" y="3102944"/>
            <a:ext cx="2596896" cy="1024128"/>
          </a:xfrm>
          <a:prstGeom prst="roundRect">
            <a:avLst>
              <a:gd name="adj" fmla="val 7143"/>
            </a:avLst>
          </a:prstGeom>
          <a:solidFill>
            <a:srgbClr val="1B4350"/>
          </a:solidFill>
          <a:ln w="10160">
            <a:solidFill>
              <a:srgbClr val="3156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" y="3352922"/>
            <a:ext cx="923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81912" y="349008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3E0D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원천 금융지표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3108960"/>
            <a:ext cx="2596896" cy="1024128"/>
          </a:xfrm>
          <a:prstGeom prst="roundRect">
            <a:avLst>
              <a:gd name="adj" fmla="val 7143"/>
            </a:avLst>
          </a:prstGeom>
          <a:solidFill>
            <a:srgbClr val="1B4350"/>
          </a:solidFill>
          <a:ln w="10160">
            <a:solidFill>
              <a:srgbClr val="3156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48456" y="3352922"/>
            <a:ext cx="923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34840" y="349008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3E0D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분석 대상 시장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73368" y="3108960"/>
            <a:ext cx="2596896" cy="1024128"/>
          </a:xfrm>
          <a:prstGeom prst="roundRect">
            <a:avLst>
              <a:gd name="adj" fmla="val 7143"/>
            </a:avLst>
          </a:prstGeom>
          <a:solidFill>
            <a:srgbClr val="1B4350"/>
          </a:solidFill>
          <a:ln w="10160">
            <a:solidFill>
              <a:srgbClr val="3156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01384" y="3352922"/>
            <a:ext cx="923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287768" y="349008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3E0D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PostgreSQL 테이블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26296" y="3108960"/>
            <a:ext cx="2596896" cy="1024128"/>
          </a:xfrm>
          <a:prstGeom prst="roundRect">
            <a:avLst>
              <a:gd name="adj" fmla="val 7143"/>
            </a:avLst>
          </a:prstGeom>
          <a:solidFill>
            <a:srgbClr val="1B4350"/>
          </a:solidFill>
          <a:ln w="10160">
            <a:solidFill>
              <a:srgbClr val="3156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354312" y="3352922"/>
            <a:ext cx="923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140696" y="349008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50" b="1" dirty="0">
                <a:solidFill>
                  <a:srgbClr val="C3E0D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접속 및 제출</a:t>
            </a:r>
            <a:r>
              <a:rPr lang="en-US" sz="1050" b="1" dirty="0">
                <a:solidFill>
                  <a:srgbClr val="C3E0DE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URL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4535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필수 제출 URL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92861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D9C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GitHub</a:t>
            </a:r>
            <a:endParaRPr lang="en-US" sz="900" dirty="0"/>
          </a:p>
        </p:txBody>
      </p:sp>
      <p:sp>
        <p:nvSpPr>
          <p:cNvPr id="21" name="Text 19">
            <a:hlinkClick r:id="rId3"/>
          </p:cNvPr>
          <p:cNvSpPr/>
          <p:nvPr/>
        </p:nvSpPr>
        <p:spPr>
          <a:xfrm>
            <a:off x="1764792" y="4928616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FFFFFF"/>
                </a:solidFill>
                <a:uFill>
                  <a:solidFill>
                    <a:srgbClr val="9FCFC4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github.com/kth6449-ops/team7-stress-dashboard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532180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D9C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SERVICE</a:t>
            </a:r>
            <a:endParaRPr lang="en-US" sz="900" dirty="0"/>
          </a:p>
        </p:txBody>
      </p:sp>
      <p:sp>
        <p:nvSpPr>
          <p:cNvPr id="23" name="Text 21">
            <a:hlinkClick r:id="rId4"/>
          </p:cNvPr>
          <p:cNvSpPr/>
          <p:nvPr/>
        </p:nvSpPr>
        <p:spPr>
          <a:xfrm>
            <a:off x="1764792" y="5321808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FFFFFF"/>
                </a:solidFill>
                <a:uFill>
                  <a:solidFill>
                    <a:srgbClr val="9FCFC4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team7-stress-dashboard-1.onrender.com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571500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D9C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SWAGGER</a:t>
            </a:r>
            <a:endParaRPr lang="en-US" sz="900" dirty="0"/>
          </a:p>
        </p:txBody>
      </p:sp>
      <p:sp>
        <p:nvSpPr>
          <p:cNvPr id="25" name="Text 23">
            <a:hlinkClick r:id="rId5"/>
          </p:cNvPr>
          <p:cNvSpPr/>
          <p:nvPr/>
        </p:nvSpPr>
        <p:spPr>
          <a:xfrm>
            <a:off x="1764792" y="5715000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FFFFFF"/>
                </a:solidFill>
                <a:uFill>
                  <a:solidFill>
                    <a:srgbClr val="9FCFC4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team7-stress-dashboard.onrender.com/docs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31536" y="4538531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필수 개발문서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07916" y="3423810"/>
            <a:ext cx="4023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690">
                <a:solidFill>
                  <a:srgbClr val="6F8790"/>
                </a:solidFill>
                <a:latin typeface="NanumSquare"/>
                <a:ea typeface="NanumSquare"/>
                <a:cs typeface="NanumSquare"/>
              </a:defRPr>
            </a:pPr>
            <a:endParaRPr lang="ko-KR" altLang="en-US" sz="1000" b="1" dirty="0">
              <a:latin typeface="+mn-ea"/>
              <a:cs typeface="NanumSquare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4944" y="651052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A1BDC2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금융시장의 역사적 상대 위험수준을 설명하는 서비스 · 미래 예측이나 투자 권유 아님</a:t>
            </a:r>
            <a:endParaRPr lang="en-US" sz="10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CA3DEFA6-6BBA-E2F0-1EF7-CA64FC5044B0}"/>
              </a:ext>
            </a:extLst>
          </p:cNvPr>
          <p:cNvSpPr/>
          <p:nvPr/>
        </p:nvSpPr>
        <p:spPr>
          <a:xfrm>
            <a:off x="5431536" y="494996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D9C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API </a:t>
            </a:r>
            <a:r>
              <a:rPr lang="ko-KR" altLang="en-US" sz="900" b="1" dirty="0">
                <a:solidFill>
                  <a:srgbClr val="94D9C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설명문서</a:t>
            </a:r>
            <a:endParaRPr lang="en-US" sz="9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5B53BEA5-189B-C3AB-CD7E-523EC491FE4C}"/>
              </a:ext>
            </a:extLst>
          </p:cNvPr>
          <p:cNvSpPr/>
          <p:nvPr/>
        </p:nvSpPr>
        <p:spPr>
          <a:xfrm>
            <a:off x="5436842" y="551114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D9C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DB </a:t>
            </a:r>
            <a:r>
              <a:rPr lang="ko-KR" altLang="en-US" sz="900" b="1" dirty="0">
                <a:solidFill>
                  <a:srgbClr val="94D9C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테이블문서</a:t>
            </a:r>
            <a:endParaRPr lang="en-US" sz="900" dirty="0"/>
          </a:p>
        </p:txBody>
      </p:sp>
      <p:sp>
        <p:nvSpPr>
          <p:cNvPr id="39" name="Text 21">
            <a:hlinkClick r:id="rId6"/>
            <a:extLst>
              <a:ext uri="{FF2B5EF4-FFF2-40B4-BE49-F238E27FC236}">
                <a16:creationId xmlns:a16="http://schemas.microsoft.com/office/drawing/2014/main" id="{40A85A7B-95D0-9B3A-05D4-AF6E94501434}"/>
              </a:ext>
            </a:extLst>
          </p:cNvPr>
          <p:cNvSpPr/>
          <p:nvPr/>
        </p:nvSpPr>
        <p:spPr>
          <a:xfrm>
            <a:off x="6362626" y="5426237"/>
            <a:ext cx="5215276" cy="4008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050" u="sng" dirty="0">
                <a:solidFill>
                  <a:schemeClr val="bg1"/>
                </a:solidFill>
                <a:uFill>
                  <a:solidFill>
                    <a:srgbClr val="9FCFC4"/>
                  </a:solidFill>
                </a:uFill>
                <a:latin typeface="NanumSquare" pitchFamily="34" charset="0"/>
                <a:ea typeface="NanumSquare" pitchFamily="34" charset="-122"/>
                <a:cs typeface="NanumSquare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https://github.com/kth6449-ops/team7-stress-dashboard/blob/main/docs/db/DB_%ED%85%8C%EC%9D%B4%EB%B8%94_%EB%AC%B8%EC%84%9C.md</a:t>
            </a:r>
            <a:endParaRPr lang="en-US" sz="1050" u="sng" dirty="0">
              <a:solidFill>
                <a:schemeClr val="bg1"/>
              </a:solidFill>
              <a:uFill>
                <a:solidFill>
                  <a:srgbClr val="9FCFC4"/>
                </a:solidFill>
              </a:uFill>
              <a:latin typeface="NanumSquare" pitchFamily="34" charset="0"/>
              <a:ea typeface="NanumSquare" pitchFamily="34" charset="-122"/>
              <a:cs typeface="NanumSquare" pitchFamily="34" charset="-120"/>
            </a:endParaRPr>
          </a:p>
        </p:txBody>
      </p:sp>
      <p:sp>
        <p:nvSpPr>
          <p:cNvPr id="26" name="직사각형 25">
            <a:hlinkClick r:id="rId7"/>
            <a:extLst>
              <a:ext uri="{FF2B5EF4-FFF2-40B4-BE49-F238E27FC236}">
                <a16:creationId xmlns:a16="http://schemas.microsoft.com/office/drawing/2014/main" id="{84D87888-D2C8-4360-CB3E-A01EA9A1A092}"/>
              </a:ext>
            </a:extLst>
          </p:cNvPr>
          <p:cNvSpPr/>
          <p:nvPr/>
        </p:nvSpPr>
        <p:spPr>
          <a:xfrm>
            <a:off x="6263640" y="4841814"/>
            <a:ext cx="5449824" cy="498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u="sng" dirty="0">
                <a:solidFill>
                  <a:schemeClr val="bg1"/>
                </a:solidFill>
                <a:uFill>
                  <a:solidFill>
                    <a:srgbClr val="CCFF99"/>
                  </a:solidFill>
                </a:uFill>
                <a:latin typeface="+mn-ea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https://github.com/kth6449-ops/team7-stress-dashboard/blob/main/docs/api/API_%EA%B7%9C%EA%B2%A9_%EC%A0%95%EC%9D%98%EC%84%9C.md</a:t>
            </a:r>
            <a:endParaRPr lang="ko-KR" altLang="en-US" sz="1000" u="sng" dirty="0">
              <a:solidFill>
                <a:schemeClr val="bg1"/>
              </a:solidFill>
              <a:uFill>
                <a:solidFill>
                  <a:srgbClr val="CCFF99"/>
                </a:solidFill>
              </a:uFill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2193</Words>
  <Application>Microsoft Office PowerPoint</Application>
  <PresentationFormat>와이드스크린</PresentationFormat>
  <Paragraphs>381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DejaVu Sans Mono</vt:lpstr>
      <vt:lpstr>NanumSquare</vt:lpstr>
      <vt:lpstr>Malgun Gothic</vt:lpstr>
      <vt:lpstr>Malgun Gothic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KAIST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7조 금융시장 스트레스 모니터링 대시보드 — 최종발표</dc:title>
  <dc:subject>금융시장 스트레스 모니터링 대시보드 최종발표 · 10분</dc:subject>
  <dc:creator>KAIST Cloud Computing · Team 7</dc:creator>
  <cp:lastModifiedBy>정연서</cp:lastModifiedBy>
  <cp:revision>105</cp:revision>
  <dcterms:created xsi:type="dcterms:W3CDTF">2026-10-16T12:43:27Z</dcterms:created>
  <dcterms:modified xsi:type="dcterms:W3CDTF">2026-10-21T02:39:11Z</dcterms:modified>
</cp:coreProperties>
</file>